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60" r:id="rId5"/>
  </p:sldIdLst>
  <p:sldSz cx="12192000" cy="6858000"/>
  <p:notesSz cx="6858000" cy="9144000"/>
  <p:embeddedFontLst>
    <p:embeddedFont>
      <p:font typeface="Inter"/>
      <p:bold r:id="rId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1.fntdata"/><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09600" y="5695950"/>
            <a:ext cx="10972800" cy="6286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533400"/>
            <a:ext cx="3505200" cy="323850"/>
          </a:xfrm>
          <a:prstGeom prst="roundRect">
            <a:avLst>
              <a:gd name="adj" fmla="val 50000"/>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600" y="5695950"/>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09600" y="4535685"/>
            <a:ext cx="571500" cy="38100"/>
          </a:xfrm>
          <a:prstGeom prst="roundRect">
            <a:avLst>
              <a:gd name="adj" fmla="val 5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76219" y="1990725"/>
            <a:ext cx="4206180" cy="2667000"/>
          </a:xfrm>
          <a:prstGeom prst="roundRect">
            <a:avLst>
              <a:gd name="adj" fmla="val 2857"/>
            </a:avLst>
          </a:prstGeom>
          <a:solidFill>
            <a:srgbClr val="F8FAFC"/>
          </a:solidFill>
          <a:ln w="1905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2"/>
          <a:stretch>
            <a:fillRect/>
          </a:stretch>
        </p:blipFill>
        <p:spPr>
          <a:xfrm>
            <a:off x="9307859" y="2869406"/>
            <a:ext cx="342900" cy="342900"/>
          </a:xfrm>
          <a:prstGeom prst="rect">
            <a:avLst/>
          </a:prstGeom>
        </p:spPr>
      </p:pic>
      <p:sp>
        <p:nvSpPr>
          <p:cNvPr id="8" name="TextBox 7"/>
          <p:cNvSpPr txBox="1"/>
          <p:nvPr/>
        </p:nvSpPr>
        <p:spPr>
          <a:xfrm>
            <a:off x="762000" y="590550"/>
            <a:ext cx="3295650" cy="184666"/>
          </a:xfrm>
          <a:prstGeom prst="rect">
            <a:avLst/>
          </a:prstGeom>
          <a:noFill/>
        </p:spPr>
        <p:txBody>
          <a:bodyPr wrap="square" lIns="0" tIns="0" rIns="0" bIns="0" anchor="t">
            <a:spAutoFit/>
          </a:bodyPr>
          <a:lstStyle/>
          <a:p>
            <a:pPr algn="l"/>
            <a:r>
              <a:rPr sz="1200" b="1" i="0" u="none" dirty="0">
                <a:solidFill>
                  <a:srgbClr val="2563EB"/>
                </a:solidFill>
                <a:latin typeface="Inter"/>
              </a:rPr>
              <a:t>Engineering Optimization</a:t>
            </a:r>
          </a:p>
        </p:txBody>
      </p:sp>
      <p:sp>
        <p:nvSpPr>
          <p:cNvPr id="10" name="TextBox 9"/>
          <p:cNvSpPr txBox="1"/>
          <p:nvPr/>
        </p:nvSpPr>
        <p:spPr>
          <a:xfrm>
            <a:off x="609600" y="2074515"/>
            <a:ext cx="6724903" cy="984885"/>
          </a:xfrm>
          <a:prstGeom prst="rect">
            <a:avLst/>
          </a:prstGeom>
          <a:noFill/>
        </p:spPr>
        <p:txBody>
          <a:bodyPr wrap="square" lIns="0" tIns="0" rIns="0" bIns="0" anchor="t">
            <a:spAutoFit/>
          </a:bodyPr>
          <a:lstStyle/>
          <a:p>
            <a:r>
              <a:rPr lang="en-AE" sz="3200" b="1" dirty="0">
                <a:latin typeface="Inter"/>
              </a:rPr>
              <a:t>Force-Directed Graph Layout Using Unconstrained Optimization</a:t>
            </a:r>
            <a:endParaRPr sz="3200" b="1" i="0" u="none" dirty="0">
              <a:solidFill>
                <a:srgbClr val="0F172A"/>
              </a:solidFill>
              <a:latin typeface="Inter"/>
            </a:endParaRPr>
          </a:p>
        </p:txBody>
      </p:sp>
      <p:sp>
        <p:nvSpPr>
          <p:cNvPr id="11" name="TextBox 10"/>
          <p:cNvSpPr txBox="1"/>
          <p:nvPr/>
        </p:nvSpPr>
        <p:spPr>
          <a:xfrm>
            <a:off x="609600" y="3817346"/>
            <a:ext cx="6404669" cy="492443"/>
          </a:xfrm>
          <a:prstGeom prst="rect">
            <a:avLst/>
          </a:prstGeom>
          <a:noFill/>
        </p:spPr>
        <p:txBody>
          <a:bodyPr wrap="square" lIns="0" tIns="0" rIns="0" bIns="0" anchor="t">
            <a:spAutoFit/>
          </a:bodyPr>
          <a:lstStyle/>
          <a:p>
            <a:r>
              <a:rPr lang="en-AE" sz="1600" dirty="0">
                <a:latin typeface="Inter"/>
              </a:rPr>
              <a:t>A graph has no positions, so we choose them by minimizing an energy function, and compare how fast three optimizers do it.</a:t>
            </a:r>
            <a:endParaRPr sz="1600" b="0" i="0" u="none" dirty="0">
              <a:solidFill>
                <a:srgbClr val="475569"/>
              </a:solidFill>
              <a:latin typeface="Inter"/>
            </a:endParaRPr>
          </a:p>
        </p:txBody>
      </p:sp>
      <p:sp>
        <p:nvSpPr>
          <p:cNvPr id="12" name="TextBox 11"/>
          <p:cNvSpPr txBox="1"/>
          <p:nvPr/>
        </p:nvSpPr>
        <p:spPr>
          <a:xfrm>
            <a:off x="609600" y="5895975"/>
            <a:ext cx="3214687" cy="185737"/>
          </a:xfrm>
          <a:prstGeom prst="rect">
            <a:avLst/>
          </a:prstGeom>
          <a:noFill/>
        </p:spPr>
        <p:txBody>
          <a:bodyPr wrap="none" lIns="0" tIns="0" rIns="0" bIns="0" anchor="t">
            <a:spAutoFit/>
          </a:bodyPr>
          <a:lstStyle/>
          <a:p>
            <a:pPr algn="l">
              <a:lnSpc>
                <a:spcPts val="1462"/>
              </a:lnSpc>
            </a:pPr>
            <a:r>
              <a:rPr sz="975" b="1" i="0" u="none" dirty="0">
                <a:solidFill>
                  <a:srgbClr val="64748B"/>
                </a:solidFill>
                <a:latin typeface="Inter"/>
              </a:rPr>
              <a:t>PRESENTED BY</a:t>
            </a:r>
          </a:p>
        </p:txBody>
      </p:sp>
      <p:sp>
        <p:nvSpPr>
          <p:cNvPr id="13" name="TextBox 12"/>
          <p:cNvSpPr txBox="1"/>
          <p:nvPr/>
        </p:nvSpPr>
        <p:spPr>
          <a:xfrm>
            <a:off x="609600" y="6081712"/>
            <a:ext cx="2517356" cy="225896"/>
          </a:xfrm>
          <a:prstGeom prst="rect">
            <a:avLst/>
          </a:prstGeom>
          <a:noFill/>
        </p:spPr>
        <p:txBody>
          <a:bodyPr wrap="none" lIns="0" tIns="0" rIns="0" bIns="0" anchor="t">
            <a:spAutoFit/>
          </a:bodyPr>
          <a:lstStyle/>
          <a:p>
            <a:pPr algn="l">
              <a:lnSpc>
                <a:spcPts val="1912"/>
              </a:lnSpc>
            </a:pPr>
            <a:r>
              <a:rPr lang="en-GB" sz="1275" b="1" i="0" u="none" dirty="0">
                <a:solidFill>
                  <a:srgbClr val="0F172A"/>
                </a:solidFill>
                <a:latin typeface="Inter"/>
              </a:rPr>
              <a:t>Gaurang Agrawal &amp; Akash Mansingh</a:t>
            </a:r>
            <a:endParaRPr sz="1275" b="1" i="0" u="none" dirty="0">
              <a:solidFill>
                <a:srgbClr val="0F172A"/>
              </a:solidFill>
              <a:latin typeface="Inter"/>
            </a:endParaRPr>
          </a:p>
        </p:txBody>
      </p:sp>
      <p:sp>
        <p:nvSpPr>
          <p:cNvPr id="14" name="TextBox 13"/>
          <p:cNvSpPr txBox="1"/>
          <p:nvPr/>
        </p:nvSpPr>
        <p:spPr>
          <a:xfrm>
            <a:off x="3581847" y="5895975"/>
            <a:ext cx="3214687" cy="185737"/>
          </a:xfrm>
          <a:prstGeom prst="rect">
            <a:avLst/>
          </a:prstGeom>
          <a:noFill/>
        </p:spPr>
        <p:txBody>
          <a:bodyPr wrap="none" lIns="0" tIns="0" rIns="0" bIns="0" anchor="t">
            <a:spAutoFit/>
          </a:bodyPr>
          <a:lstStyle/>
          <a:p>
            <a:pPr algn="l">
              <a:lnSpc>
                <a:spcPts val="1462"/>
              </a:lnSpc>
            </a:pPr>
            <a:r>
              <a:rPr sz="975" b="1" i="0" u="none" dirty="0">
                <a:solidFill>
                  <a:srgbClr val="64748B"/>
                </a:solidFill>
                <a:latin typeface="Inter"/>
              </a:rPr>
              <a:t>ROLL NUMBER / ID</a:t>
            </a:r>
          </a:p>
        </p:txBody>
      </p:sp>
      <p:sp>
        <p:nvSpPr>
          <p:cNvPr id="15" name="TextBox 14"/>
          <p:cNvSpPr txBox="1"/>
          <p:nvPr/>
        </p:nvSpPr>
        <p:spPr>
          <a:xfrm>
            <a:off x="3581847" y="6081712"/>
            <a:ext cx="1671933" cy="225896"/>
          </a:xfrm>
          <a:prstGeom prst="rect">
            <a:avLst/>
          </a:prstGeom>
          <a:noFill/>
        </p:spPr>
        <p:txBody>
          <a:bodyPr wrap="none" lIns="0" tIns="0" rIns="0" bIns="0" anchor="t">
            <a:spAutoFit/>
          </a:bodyPr>
          <a:lstStyle/>
          <a:p>
            <a:pPr algn="l">
              <a:lnSpc>
                <a:spcPts val="1912"/>
              </a:lnSpc>
            </a:pPr>
            <a:r>
              <a:rPr lang="en-GB" sz="1275" b="1" i="0" u="none" dirty="0">
                <a:solidFill>
                  <a:srgbClr val="0F172A"/>
                </a:solidFill>
                <a:latin typeface="Inter"/>
              </a:rPr>
              <a:t>25BEI0049 &amp; 25BEI0024</a:t>
            </a:r>
            <a:endParaRPr sz="1275" b="1" i="0" u="none" dirty="0">
              <a:solidFill>
                <a:srgbClr val="0F172A"/>
              </a:solidFill>
              <a:latin typeface="Inter"/>
            </a:endParaRPr>
          </a:p>
        </p:txBody>
      </p:sp>
      <p:sp>
        <p:nvSpPr>
          <p:cNvPr id="16" name="TextBox 15"/>
          <p:cNvSpPr txBox="1"/>
          <p:nvPr/>
        </p:nvSpPr>
        <p:spPr>
          <a:xfrm>
            <a:off x="6096000" y="5895975"/>
            <a:ext cx="3214687" cy="185737"/>
          </a:xfrm>
          <a:prstGeom prst="rect">
            <a:avLst/>
          </a:prstGeom>
          <a:noFill/>
        </p:spPr>
        <p:txBody>
          <a:bodyPr wrap="none" lIns="0" tIns="0" rIns="0" bIns="0" anchor="t">
            <a:spAutoFit/>
          </a:bodyPr>
          <a:lstStyle/>
          <a:p>
            <a:pPr algn="l">
              <a:lnSpc>
                <a:spcPts val="1462"/>
              </a:lnSpc>
            </a:pPr>
            <a:r>
              <a:rPr sz="975" b="1" i="0" u="none" dirty="0">
                <a:solidFill>
                  <a:srgbClr val="64748B"/>
                </a:solidFill>
                <a:latin typeface="Inter"/>
              </a:rPr>
              <a:t>DEPARTMENT</a:t>
            </a:r>
          </a:p>
        </p:txBody>
      </p:sp>
      <p:sp>
        <p:nvSpPr>
          <p:cNvPr id="17" name="TextBox 16"/>
          <p:cNvSpPr txBox="1"/>
          <p:nvPr/>
        </p:nvSpPr>
        <p:spPr>
          <a:xfrm>
            <a:off x="6096000" y="6081712"/>
            <a:ext cx="2916952" cy="225896"/>
          </a:xfrm>
          <a:prstGeom prst="rect">
            <a:avLst/>
          </a:prstGeom>
          <a:noFill/>
        </p:spPr>
        <p:txBody>
          <a:bodyPr wrap="none" lIns="0" tIns="0" rIns="0" bIns="0" anchor="t">
            <a:spAutoFit/>
          </a:bodyPr>
          <a:lstStyle/>
          <a:p>
            <a:pPr algn="l">
              <a:lnSpc>
                <a:spcPts val="1912"/>
              </a:lnSpc>
            </a:pPr>
            <a:r>
              <a:rPr lang="en-GB" sz="1275" b="1" i="0" u="none" dirty="0">
                <a:solidFill>
                  <a:srgbClr val="0F172A"/>
                </a:solidFill>
                <a:latin typeface="Inter"/>
              </a:rPr>
              <a:t>Electronics &amp; Instrumentation Engineering</a:t>
            </a:r>
            <a:endParaRPr sz="1275" b="1" i="0" u="none" dirty="0">
              <a:solidFill>
                <a:srgbClr val="0F172A"/>
              </a:solidFill>
              <a:latin typeface="Inter"/>
            </a:endParaRPr>
          </a:p>
        </p:txBody>
      </p:sp>
      <p:sp>
        <p:nvSpPr>
          <p:cNvPr id="18" name="TextBox 17"/>
          <p:cNvSpPr txBox="1"/>
          <p:nvPr/>
        </p:nvSpPr>
        <p:spPr>
          <a:xfrm>
            <a:off x="9307859" y="5905500"/>
            <a:ext cx="615553" cy="177293"/>
          </a:xfrm>
          <a:prstGeom prst="rect">
            <a:avLst/>
          </a:prstGeom>
          <a:noFill/>
        </p:spPr>
        <p:txBody>
          <a:bodyPr wrap="none" lIns="0" tIns="0" rIns="0" bIns="0" anchor="t">
            <a:spAutoFit/>
          </a:bodyPr>
          <a:lstStyle/>
          <a:p>
            <a:pPr algn="l">
              <a:lnSpc>
                <a:spcPts val="1462"/>
              </a:lnSpc>
            </a:pPr>
            <a:r>
              <a:rPr sz="975" b="1" i="0" u="none" dirty="0">
                <a:solidFill>
                  <a:srgbClr val="64748B"/>
                </a:solidFill>
                <a:latin typeface="Inter"/>
              </a:rPr>
              <a:t>PROFESSOR</a:t>
            </a:r>
          </a:p>
        </p:txBody>
      </p:sp>
      <p:sp>
        <p:nvSpPr>
          <p:cNvPr id="19" name="TextBox 18"/>
          <p:cNvSpPr txBox="1"/>
          <p:nvPr/>
        </p:nvSpPr>
        <p:spPr>
          <a:xfrm>
            <a:off x="9310687" y="6081712"/>
            <a:ext cx="1278492" cy="225896"/>
          </a:xfrm>
          <a:prstGeom prst="rect">
            <a:avLst/>
          </a:prstGeom>
          <a:noFill/>
        </p:spPr>
        <p:txBody>
          <a:bodyPr wrap="none" lIns="0" tIns="0" rIns="0" bIns="0" anchor="t">
            <a:spAutoFit/>
          </a:bodyPr>
          <a:lstStyle/>
          <a:p>
            <a:pPr algn="l">
              <a:lnSpc>
                <a:spcPts val="1912"/>
              </a:lnSpc>
            </a:pPr>
            <a:r>
              <a:rPr lang="en-GB" sz="1275" b="1" i="0" u="none" dirty="0">
                <a:solidFill>
                  <a:srgbClr val="0F172A"/>
                </a:solidFill>
                <a:latin typeface="Inter"/>
              </a:rPr>
              <a:t>Dr. </a:t>
            </a:r>
            <a:r>
              <a:rPr lang="en-GB" sz="1275" b="1" dirty="0">
                <a:solidFill>
                  <a:srgbClr val="0F172A"/>
                </a:solidFill>
                <a:latin typeface="Inter"/>
              </a:rPr>
              <a:t>Raghunathan T.</a:t>
            </a:r>
            <a:endParaRPr sz="1275" b="1" i="0" u="none" dirty="0">
              <a:solidFill>
                <a:srgbClr val="0F172A"/>
              </a:solidFill>
              <a:latin typeface="Inter"/>
            </a:endParaRPr>
          </a:p>
        </p:txBody>
      </p:sp>
      <p:sp>
        <p:nvSpPr>
          <p:cNvPr id="20" name="TextBox 19"/>
          <p:cNvSpPr txBox="1"/>
          <p:nvPr/>
        </p:nvSpPr>
        <p:spPr>
          <a:xfrm>
            <a:off x="7806481" y="3326606"/>
            <a:ext cx="3345656" cy="228600"/>
          </a:xfrm>
          <a:prstGeom prst="rect">
            <a:avLst/>
          </a:prstGeom>
          <a:noFill/>
        </p:spPr>
        <p:txBody>
          <a:bodyPr wrap="none" lIns="0" tIns="0" rIns="0" bIns="0" anchor="t">
            <a:spAutoFit/>
          </a:bodyPr>
          <a:lstStyle/>
          <a:p>
            <a:pPr algn="ctr">
              <a:lnSpc>
                <a:spcPts val="1800"/>
              </a:lnSpc>
            </a:pPr>
            <a:r>
              <a:rPr sz="1200" b="1" i="0" u="none">
                <a:solidFill>
                  <a:srgbClr val="334155"/>
                </a:solidFill>
                <a:latin typeface="Inter"/>
              </a:rPr>
              <a:t>[Insert Cover / Overview Image Here]</a:t>
            </a:r>
          </a:p>
        </p:txBody>
      </p:sp>
      <p:sp>
        <p:nvSpPr>
          <p:cNvPr id="21" name="TextBox 20"/>
          <p:cNvSpPr txBox="1"/>
          <p:nvPr/>
        </p:nvSpPr>
        <p:spPr>
          <a:xfrm>
            <a:off x="8366075" y="3593306"/>
            <a:ext cx="2226468" cy="185737"/>
          </a:xfrm>
          <a:prstGeom prst="rect">
            <a:avLst/>
          </a:prstGeom>
          <a:noFill/>
        </p:spPr>
        <p:txBody>
          <a:bodyPr wrap="none" lIns="0" tIns="0" rIns="0" bIns="0" anchor="t">
            <a:spAutoFit/>
          </a:bodyPr>
          <a:lstStyle/>
          <a:p>
            <a:pPr algn="ctr">
              <a:lnSpc>
                <a:spcPts val="1462"/>
              </a:lnSpc>
            </a:pPr>
            <a:r>
              <a:rPr sz="975" b="0" i="0" u="none">
                <a:solidFill>
                  <a:srgbClr val="0F172A"/>
                </a:solidFill>
                <a:latin typeface="Inter"/>
              </a:rPr>
              <a:t>Replace this box with your tag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ounded Rectangle 3"/>
          <p:cNvSpPr/>
          <p:nvPr/>
        </p:nvSpPr>
        <p:spPr>
          <a:xfrm>
            <a:off x="6850409" y="1797843"/>
            <a:ext cx="4731990" cy="3429000"/>
          </a:xfrm>
          <a:prstGeom prst="roundRect">
            <a:avLst>
              <a:gd name="adj" fmla="val 2222"/>
            </a:avLst>
          </a:prstGeom>
          <a:solidFill>
            <a:srgbClr val="F8FAFC"/>
          </a:solidFill>
          <a:ln w="1905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09600" y="2207418"/>
            <a:ext cx="342900" cy="342900"/>
          </a:xfrm>
          <a:prstGeom prst="roundRect">
            <a:avLst>
              <a:gd name="adj" fmla="val 50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09600" y="4074318"/>
            <a:ext cx="342900" cy="342900"/>
          </a:xfrm>
          <a:prstGeom prst="roundRect">
            <a:avLst>
              <a:gd name="adj" fmla="val 50000"/>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2"/>
          <a:stretch>
            <a:fillRect/>
          </a:stretch>
        </p:blipFill>
        <p:spPr>
          <a:xfrm>
            <a:off x="9021067" y="3026568"/>
            <a:ext cx="390525" cy="342900"/>
          </a:xfrm>
          <a:prstGeom prst="rect">
            <a:avLst/>
          </a:prstGeom>
        </p:spPr>
      </p:pic>
      <p:sp>
        <p:nvSpPr>
          <p:cNvPr id="10" name="TextBox 9"/>
          <p:cNvSpPr txBox="1"/>
          <p:nvPr/>
        </p:nvSpPr>
        <p:spPr>
          <a:xfrm>
            <a:off x="609600" y="457200"/>
            <a:ext cx="11582400" cy="200025"/>
          </a:xfrm>
          <a:prstGeom prst="rect">
            <a:avLst/>
          </a:prstGeom>
          <a:noFill/>
        </p:spPr>
        <p:txBody>
          <a:bodyPr wrap="none" lIns="0" tIns="0" rIns="0" bIns="0" anchor="t">
            <a:spAutoFit/>
          </a:bodyPr>
          <a:lstStyle/>
          <a:p>
            <a:pPr algn="l">
              <a:lnSpc>
                <a:spcPts val="1575"/>
              </a:lnSpc>
            </a:pPr>
            <a:r>
              <a:rPr sz="1050" b="1" i="0" u="none">
                <a:solidFill>
                  <a:srgbClr val="2563EB"/>
                </a:solidFill>
                <a:latin typeface="Inter"/>
              </a:rPr>
              <a:t>SECTION 1</a:t>
            </a:r>
          </a:p>
        </p:txBody>
      </p:sp>
      <p:sp>
        <p:nvSpPr>
          <p:cNvPr id="11" name="TextBox 10"/>
          <p:cNvSpPr txBox="1"/>
          <p:nvPr/>
        </p:nvSpPr>
        <p:spPr>
          <a:xfrm>
            <a:off x="609600" y="695325"/>
            <a:ext cx="11582400" cy="371475"/>
          </a:xfrm>
          <a:prstGeom prst="rect">
            <a:avLst/>
          </a:prstGeom>
          <a:noFill/>
        </p:spPr>
        <p:txBody>
          <a:bodyPr wrap="none" lIns="0" tIns="0" rIns="0" bIns="0" anchor="t">
            <a:spAutoFit/>
          </a:bodyPr>
          <a:lstStyle/>
          <a:p>
            <a:pPr algn="l"/>
            <a:r>
              <a:rPr sz="2400" b="1" i="0" u="none">
                <a:solidFill>
                  <a:srgbClr val="0F172A"/>
                </a:solidFill>
                <a:latin typeface="Inter"/>
              </a:rPr>
              <a:t>Problem Statement &amp; Formulation</a:t>
            </a:r>
          </a:p>
        </p:txBody>
      </p:sp>
      <p:sp>
        <p:nvSpPr>
          <p:cNvPr id="12" name="TextBox 11"/>
          <p:cNvSpPr txBox="1"/>
          <p:nvPr/>
        </p:nvSpPr>
        <p:spPr>
          <a:xfrm>
            <a:off x="466725" y="2207418"/>
            <a:ext cx="628650" cy="342900"/>
          </a:xfrm>
          <a:prstGeom prst="rect">
            <a:avLst/>
          </a:prstGeom>
          <a:noFill/>
        </p:spPr>
        <p:txBody>
          <a:bodyPr wrap="square" lIns="0" tIns="0" rIns="0" bIns="0" anchor="ctr">
            <a:spAutoFit/>
          </a:bodyPr>
          <a:lstStyle/>
          <a:p>
            <a:pPr algn="ctr"/>
            <a:r>
              <a:rPr sz="1200" b="1" i="0" u="none">
                <a:solidFill>
                  <a:srgbClr val="2563EB"/>
                </a:solidFill>
                <a:latin typeface="Inter"/>
              </a:rPr>
              <a:t>1</a:t>
            </a:r>
          </a:p>
        </p:txBody>
      </p:sp>
      <p:sp>
        <p:nvSpPr>
          <p:cNvPr id="14" name="TextBox 13"/>
          <p:cNvSpPr txBox="1"/>
          <p:nvPr/>
        </p:nvSpPr>
        <p:spPr>
          <a:xfrm>
            <a:off x="466725" y="4153435"/>
            <a:ext cx="628650" cy="184666"/>
          </a:xfrm>
          <a:prstGeom prst="rect">
            <a:avLst/>
          </a:prstGeom>
          <a:noFill/>
        </p:spPr>
        <p:txBody>
          <a:bodyPr wrap="square" lIns="0" tIns="0" rIns="0" bIns="0" anchor="ctr">
            <a:spAutoFit/>
          </a:bodyPr>
          <a:lstStyle/>
          <a:p>
            <a:pPr algn="ctr"/>
            <a:r>
              <a:rPr lang="en-GB" sz="1200" b="1" dirty="0">
                <a:solidFill>
                  <a:srgbClr val="2563EB"/>
                </a:solidFill>
                <a:latin typeface="Inter"/>
              </a:rPr>
              <a:t>2</a:t>
            </a:r>
            <a:endParaRPr sz="1200" b="1" i="0" u="none" dirty="0">
              <a:solidFill>
                <a:srgbClr val="2563EB"/>
              </a:solidFill>
              <a:latin typeface="Inter"/>
            </a:endParaRPr>
          </a:p>
        </p:txBody>
      </p:sp>
      <p:sp>
        <p:nvSpPr>
          <p:cNvPr id="15" name="TextBox 14"/>
          <p:cNvSpPr txBox="1"/>
          <p:nvPr/>
        </p:nvSpPr>
        <p:spPr>
          <a:xfrm>
            <a:off x="6716017" y="3483768"/>
            <a:ext cx="5000625" cy="257175"/>
          </a:xfrm>
          <a:prstGeom prst="rect">
            <a:avLst/>
          </a:prstGeom>
          <a:noFill/>
        </p:spPr>
        <p:txBody>
          <a:bodyPr wrap="none" lIns="0" tIns="0" rIns="0" bIns="0" anchor="t">
            <a:spAutoFit/>
          </a:bodyPr>
          <a:lstStyle/>
          <a:p>
            <a:pPr algn="ctr">
              <a:lnSpc>
                <a:spcPts val="2025"/>
              </a:lnSpc>
            </a:pPr>
            <a:r>
              <a:rPr sz="1350" b="1" i="0" u="none">
                <a:solidFill>
                  <a:srgbClr val="334155"/>
                </a:solidFill>
                <a:latin typeface="Inter"/>
              </a:rPr>
              <a:t>[Insert Problem Diagram / System Model Image]</a:t>
            </a:r>
          </a:p>
        </p:txBody>
      </p:sp>
      <p:sp>
        <p:nvSpPr>
          <p:cNvPr id="16" name="TextBox 15"/>
          <p:cNvSpPr txBox="1"/>
          <p:nvPr/>
        </p:nvSpPr>
        <p:spPr>
          <a:xfrm>
            <a:off x="6674346" y="3798093"/>
            <a:ext cx="5083968" cy="200025"/>
          </a:xfrm>
          <a:prstGeom prst="rect">
            <a:avLst/>
          </a:prstGeom>
          <a:noFill/>
        </p:spPr>
        <p:txBody>
          <a:bodyPr wrap="none" lIns="0" tIns="0" rIns="0" bIns="0" anchor="t">
            <a:spAutoFit/>
          </a:bodyPr>
          <a:lstStyle/>
          <a:p>
            <a:pPr algn="ctr">
              <a:lnSpc>
                <a:spcPts val="1575"/>
              </a:lnSpc>
            </a:pPr>
            <a:r>
              <a:rPr sz="1050" b="0" i="0" u="none">
                <a:solidFill>
                  <a:srgbClr val="0F172A"/>
                </a:solidFill>
                <a:latin typeface="Inter"/>
              </a:rPr>
              <a:t>Add an image showing the unoptimized system or problem setup</a:t>
            </a:r>
          </a:p>
        </p:txBody>
      </p:sp>
      <p:sp>
        <p:nvSpPr>
          <p:cNvPr id="17" name="TextBox 16"/>
          <p:cNvSpPr txBox="1"/>
          <p:nvPr/>
        </p:nvSpPr>
        <p:spPr>
          <a:xfrm>
            <a:off x="1104900" y="2207418"/>
            <a:ext cx="2195088" cy="246221"/>
          </a:xfrm>
          <a:prstGeom prst="rect">
            <a:avLst/>
          </a:prstGeom>
          <a:noFill/>
        </p:spPr>
        <p:txBody>
          <a:bodyPr wrap="none" lIns="0" tIns="0" rIns="0" bIns="0" anchor="t">
            <a:spAutoFit/>
          </a:bodyPr>
          <a:lstStyle/>
          <a:p>
            <a:pPr algn="l"/>
            <a:r>
              <a:rPr sz="1600" b="1" i="0" u="none" dirty="0">
                <a:solidFill>
                  <a:srgbClr val="0F172A"/>
                </a:solidFill>
                <a:latin typeface="Inter"/>
              </a:rPr>
              <a:t>Background &amp; Motivation</a:t>
            </a:r>
          </a:p>
        </p:txBody>
      </p:sp>
      <p:sp>
        <p:nvSpPr>
          <p:cNvPr id="18" name="TextBox 17"/>
          <p:cNvSpPr txBox="1"/>
          <p:nvPr/>
        </p:nvSpPr>
        <p:spPr>
          <a:xfrm>
            <a:off x="1104900" y="2464593"/>
            <a:ext cx="5383559" cy="1477328"/>
          </a:xfrm>
          <a:prstGeom prst="rect">
            <a:avLst/>
          </a:prstGeom>
          <a:noFill/>
        </p:spPr>
        <p:txBody>
          <a:bodyPr wrap="square" lIns="0" tIns="0" rIns="0" bIns="0" anchor="t">
            <a:spAutoFit/>
          </a:bodyPr>
          <a:lstStyle/>
          <a:p>
            <a:r>
              <a:rPr lang="en-AE" sz="1600" dirty="0">
                <a:latin typeface="Inter"/>
              </a:rPr>
              <a:t>A graph is a set of nodes and edges, like routers and cables, people and friendships, or notes and links. It only tells us who is connected to whom, not where anything sits on the screen. To draw it, we have to pick an x and y for every node, so a graph with n nodes has 2n unknowns. Random positions give a tangled picture with edges crossing everywhere.</a:t>
            </a:r>
            <a:endParaRPr sz="1400" b="0" i="0" u="none" dirty="0">
              <a:solidFill>
                <a:srgbClr val="475569"/>
              </a:solidFill>
              <a:latin typeface="Inter"/>
            </a:endParaRPr>
          </a:p>
        </p:txBody>
      </p:sp>
      <p:sp>
        <p:nvSpPr>
          <p:cNvPr id="21" name="TextBox 20"/>
          <p:cNvSpPr txBox="1"/>
          <p:nvPr/>
        </p:nvSpPr>
        <p:spPr>
          <a:xfrm>
            <a:off x="1104900" y="4074318"/>
            <a:ext cx="2111475" cy="246221"/>
          </a:xfrm>
          <a:prstGeom prst="rect">
            <a:avLst/>
          </a:prstGeom>
          <a:noFill/>
        </p:spPr>
        <p:txBody>
          <a:bodyPr wrap="none" lIns="0" tIns="0" rIns="0" bIns="0" anchor="t">
            <a:spAutoFit/>
          </a:bodyPr>
          <a:lstStyle/>
          <a:p>
            <a:pPr algn="l"/>
            <a:r>
              <a:rPr sz="1600" b="1" i="0" u="none" dirty="0">
                <a:solidFill>
                  <a:srgbClr val="0F172A"/>
                </a:solidFill>
                <a:latin typeface="Inter"/>
              </a:rPr>
              <a:t>Constraints &amp; Challenges</a:t>
            </a:r>
          </a:p>
        </p:txBody>
      </p:sp>
      <p:sp>
        <p:nvSpPr>
          <p:cNvPr id="22" name="TextBox 21"/>
          <p:cNvSpPr txBox="1"/>
          <p:nvPr/>
        </p:nvSpPr>
        <p:spPr>
          <a:xfrm>
            <a:off x="1104900" y="4331493"/>
            <a:ext cx="5383559" cy="984885"/>
          </a:xfrm>
          <a:prstGeom prst="rect">
            <a:avLst/>
          </a:prstGeom>
          <a:noFill/>
        </p:spPr>
        <p:txBody>
          <a:bodyPr wrap="square" lIns="0" tIns="0" rIns="0" bIns="0" anchor="t">
            <a:spAutoFit/>
          </a:bodyPr>
          <a:lstStyle/>
          <a:p>
            <a:pPr lvl="0"/>
            <a:r>
              <a:rPr lang="en-AE" sz="1600" dirty="0">
                <a:latin typeface="Inter"/>
              </a:rPr>
              <a:t>The goals compete: springs pull nodes together while repulsion pushes them apart, so the best layout is a balance.</a:t>
            </a:r>
          </a:p>
          <a:p>
            <a:pPr lvl="0"/>
            <a:r>
              <a:rPr lang="en-AE" sz="1600" dirty="0">
                <a:latin typeface="Inter"/>
              </a:rPr>
              <a:t>The energy is non-convex, so there can be several resting drawings, and not all of them are equally clean.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09600" y="6057900"/>
            <a:ext cx="10972800" cy="3429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09600" y="6057900"/>
            <a:ext cx="10972800"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09600" y="1895475"/>
            <a:ext cx="5043785" cy="3333750"/>
          </a:xfrm>
          <a:prstGeom prst="roundRect">
            <a:avLst>
              <a:gd name="adj" fmla="val 2285"/>
            </a:avLst>
          </a:prstGeom>
          <a:solidFill>
            <a:srgbClr val="F8FAFC"/>
          </a:solidFill>
          <a:ln w="19050">
            <a:solidFill>
              <a:srgbClr val="94A3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034385" y="1909762"/>
            <a:ext cx="5548014" cy="1076325"/>
          </a:xfrm>
          <a:prstGeom prst="roundRect">
            <a:avLst>
              <a:gd name="adj" fmla="val 7079"/>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034385" y="3138487"/>
            <a:ext cx="5548014" cy="1076325"/>
          </a:xfrm>
          <a:prstGeom prst="roundRect">
            <a:avLst>
              <a:gd name="adj" fmla="val 7079"/>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034385" y="4367212"/>
            <a:ext cx="5548014" cy="847725"/>
          </a:xfrm>
          <a:prstGeom prst="roundRect">
            <a:avLst>
              <a:gd name="adj" fmla="val 8988"/>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2"/>
          <a:stretch>
            <a:fillRect/>
          </a:stretch>
        </p:blipFill>
        <p:spPr>
          <a:xfrm>
            <a:off x="2936230" y="3076575"/>
            <a:ext cx="390525" cy="342900"/>
          </a:xfrm>
          <a:prstGeom prst="rect">
            <a:avLst/>
          </a:prstGeom>
        </p:spPr>
      </p:pic>
      <p:sp>
        <p:nvSpPr>
          <p:cNvPr id="9" name="TextBox 8"/>
          <p:cNvSpPr txBox="1"/>
          <p:nvPr/>
        </p:nvSpPr>
        <p:spPr>
          <a:xfrm>
            <a:off x="609600" y="457200"/>
            <a:ext cx="11582400" cy="200025"/>
          </a:xfrm>
          <a:prstGeom prst="rect">
            <a:avLst/>
          </a:prstGeom>
          <a:noFill/>
        </p:spPr>
        <p:txBody>
          <a:bodyPr wrap="none" lIns="0" tIns="0" rIns="0" bIns="0" anchor="t">
            <a:spAutoFit/>
          </a:bodyPr>
          <a:lstStyle/>
          <a:p>
            <a:pPr algn="l">
              <a:lnSpc>
                <a:spcPts val="1575"/>
              </a:lnSpc>
            </a:pPr>
            <a:r>
              <a:rPr sz="1050" b="1" i="0" u="none">
                <a:solidFill>
                  <a:srgbClr val="2563EB"/>
                </a:solidFill>
                <a:latin typeface="Inter"/>
              </a:rPr>
              <a:t>SECTION 2</a:t>
            </a:r>
          </a:p>
        </p:txBody>
      </p:sp>
      <p:sp>
        <p:nvSpPr>
          <p:cNvPr id="10" name="TextBox 9"/>
          <p:cNvSpPr txBox="1"/>
          <p:nvPr/>
        </p:nvSpPr>
        <p:spPr>
          <a:xfrm>
            <a:off x="609600" y="695325"/>
            <a:ext cx="11582400" cy="371475"/>
          </a:xfrm>
          <a:prstGeom prst="rect">
            <a:avLst/>
          </a:prstGeom>
          <a:noFill/>
        </p:spPr>
        <p:txBody>
          <a:bodyPr wrap="none" lIns="0" tIns="0" rIns="0" bIns="0" anchor="t">
            <a:spAutoFit/>
          </a:bodyPr>
          <a:lstStyle/>
          <a:p>
            <a:pPr algn="l"/>
            <a:r>
              <a:rPr sz="2400" b="1" i="0" u="none">
                <a:solidFill>
                  <a:srgbClr val="0F172A"/>
                </a:solidFill>
                <a:latin typeface="Inter"/>
              </a:rPr>
              <a:t>Proposed Optimization Method</a:t>
            </a:r>
          </a:p>
        </p:txBody>
      </p:sp>
      <p:sp>
        <p:nvSpPr>
          <p:cNvPr id="11" name="TextBox 10"/>
          <p:cNvSpPr txBox="1"/>
          <p:nvPr/>
        </p:nvSpPr>
        <p:spPr>
          <a:xfrm>
            <a:off x="609600" y="6219825"/>
            <a:ext cx="2109552" cy="173124"/>
          </a:xfrm>
          <a:prstGeom prst="rect">
            <a:avLst/>
          </a:prstGeom>
          <a:noFill/>
        </p:spPr>
        <p:txBody>
          <a:bodyPr wrap="none" lIns="0" tIns="0" rIns="0" bIns="0" anchor="t">
            <a:spAutoFit/>
          </a:bodyPr>
          <a:lstStyle/>
          <a:p>
            <a:pPr algn="l"/>
            <a:r>
              <a:rPr sz="1125" b="1" i="0" u="none" dirty="0">
                <a:solidFill>
                  <a:srgbClr val="64748B"/>
                </a:solidFill>
                <a:latin typeface="Inter"/>
              </a:rPr>
              <a:t>Optimization Type:</a:t>
            </a:r>
            <a:r>
              <a:rPr sz="1125" b="0" i="0" u="none" dirty="0">
                <a:solidFill>
                  <a:srgbClr val="64748B"/>
                </a:solidFill>
                <a:latin typeface="Inter"/>
              </a:rPr>
              <a:t> Unconstrained </a:t>
            </a:r>
          </a:p>
        </p:txBody>
      </p:sp>
      <p:sp>
        <p:nvSpPr>
          <p:cNvPr id="12" name="TextBox 11"/>
          <p:cNvSpPr txBox="1"/>
          <p:nvPr/>
        </p:nvSpPr>
        <p:spPr>
          <a:xfrm>
            <a:off x="9020175" y="6219825"/>
            <a:ext cx="1197444" cy="173124"/>
          </a:xfrm>
          <a:prstGeom prst="rect">
            <a:avLst/>
          </a:prstGeom>
          <a:noFill/>
        </p:spPr>
        <p:txBody>
          <a:bodyPr wrap="none" lIns="0" tIns="0" rIns="0" bIns="0" anchor="t">
            <a:spAutoFit/>
          </a:bodyPr>
          <a:lstStyle/>
          <a:p>
            <a:pPr algn="l"/>
            <a:r>
              <a:rPr sz="1125" b="1" i="0" u="none" dirty="0">
                <a:solidFill>
                  <a:srgbClr val="64748B"/>
                </a:solidFill>
                <a:latin typeface="Inter"/>
              </a:rPr>
              <a:t>Solver Tool:</a:t>
            </a:r>
            <a:r>
              <a:rPr sz="1125" b="0" i="0" u="none" dirty="0">
                <a:solidFill>
                  <a:srgbClr val="64748B"/>
                </a:solidFill>
                <a:latin typeface="Inter"/>
              </a:rPr>
              <a:t> Python</a:t>
            </a:r>
          </a:p>
        </p:txBody>
      </p:sp>
      <p:sp>
        <p:nvSpPr>
          <p:cNvPr id="13" name="TextBox 12"/>
          <p:cNvSpPr txBox="1"/>
          <p:nvPr/>
        </p:nvSpPr>
        <p:spPr>
          <a:xfrm>
            <a:off x="1065758" y="3533775"/>
            <a:ext cx="4131468" cy="257175"/>
          </a:xfrm>
          <a:prstGeom prst="rect">
            <a:avLst/>
          </a:prstGeom>
          <a:noFill/>
        </p:spPr>
        <p:txBody>
          <a:bodyPr wrap="none" lIns="0" tIns="0" rIns="0" bIns="0" anchor="t">
            <a:spAutoFit/>
          </a:bodyPr>
          <a:lstStyle/>
          <a:p>
            <a:pPr algn="ctr">
              <a:lnSpc>
                <a:spcPts val="2025"/>
              </a:lnSpc>
            </a:pPr>
            <a:r>
              <a:rPr sz="1350" b="1" i="0" u="none">
                <a:solidFill>
                  <a:srgbClr val="334155"/>
                </a:solidFill>
                <a:latin typeface="Inter"/>
              </a:rPr>
              <a:t>[Insert Flowchart / Formula Image Here]</a:t>
            </a:r>
          </a:p>
        </p:txBody>
      </p:sp>
      <p:sp>
        <p:nvSpPr>
          <p:cNvPr id="14" name="TextBox 13"/>
          <p:cNvSpPr txBox="1"/>
          <p:nvPr/>
        </p:nvSpPr>
        <p:spPr>
          <a:xfrm>
            <a:off x="678805" y="3848100"/>
            <a:ext cx="4905375" cy="200025"/>
          </a:xfrm>
          <a:prstGeom prst="rect">
            <a:avLst/>
          </a:prstGeom>
          <a:noFill/>
        </p:spPr>
        <p:txBody>
          <a:bodyPr wrap="none" lIns="0" tIns="0" rIns="0" bIns="0" anchor="t">
            <a:spAutoFit/>
          </a:bodyPr>
          <a:lstStyle/>
          <a:p>
            <a:pPr algn="ctr">
              <a:lnSpc>
                <a:spcPts val="1575"/>
              </a:lnSpc>
            </a:pPr>
            <a:r>
              <a:rPr sz="1050" b="0" i="0" u="none">
                <a:solidFill>
                  <a:srgbClr val="0F172A"/>
                </a:solidFill>
                <a:latin typeface="Inter"/>
              </a:rPr>
              <a:t>Add a schematic of your algorithm or mathematical formulation</a:t>
            </a:r>
          </a:p>
        </p:txBody>
      </p:sp>
      <p:sp>
        <p:nvSpPr>
          <p:cNvPr id="15" name="TextBox 14"/>
          <p:cNvSpPr txBox="1"/>
          <p:nvPr/>
        </p:nvSpPr>
        <p:spPr>
          <a:xfrm>
            <a:off x="6215360" y="2007393"/>
            <a:ext cx="5976639" cy="200025"/>
          </a:xfrm>
          <a:prstGeom prst="rect">
            <a:avLst/>
          </a:prstGeom>
          <a:noFill/>
        </p:spPr>
        <p:txBody>
          <a:bodyPr wrap="none" lIns="0" tIns="0" rIns="0" bIns="0" anchor="t">
            <a:spAutoFit/>
          </a:bodyPr>
          <a:lstStyle/>
          <a:p>
            <a:pPr algn="l"/>
            <a:r>
              <a:rPr sz="1350" b="1" i="0" u="none" dirty="0">
                <a:solidFill>
                  <a:srgbClr val="2563EB"/>
                </a:solidFill>
                <a:latin typeface="Inter"/>
              </a:rPr>
              <a:t>Objective Function Setup</a:t>
            </a:r>
          </a:p>
        </p:txBody>
      </p:sp>
      <p:sp>
        <p:nvSpPr>
          <p:cNvPr id="16" name="TextBox 15"/>
          <p:cNvSpPr txBox="1"/>
          <p:nvPr/>
        </p:nvSpPr>
        <p:spPr>
          <a:xfrm>
            <a:off x="6215360" y="2233136"/>
            <a:ext cx="5281314" cy="738664"/>
          </a:xfrm>
          <a:prstGeom prst="rect">
            <a:avLst/>
          </a:prstGeom>
          <a:noFill/>
        </p:spPr>
        <p:txBody>
          <a:bodyPr wrap="square" lIns="0" tIns="0" rIns="0" bIns="0" anchor="t">
            <a:spAutoFit/>
          </a:bodyPr>
          <a:lstStyle/>
          <a:p>
            <a:r>
              <a:rPr lang="en-AE" sz="1200" dirty="0"/>
              <a:t>The layout is scored by a total energy E = spring + repulsion + </a:t>
            </a:r>
            <a:r>
              <a:rPr lang="en-AE" sz="1200" dirty="0" err="1"/>
              <a:t>centering</a:t>
            </a:r>
            <a:r>
              <a:rPr lang="en-AE" sz="1200" dirty="0"/>
              <a:t>, which depends on all 2n node coordinates. We compute its gradient, run an optimizer so that it chooses a direction and updates the coordinates and stops when the convergence criterion is satisfied, The result is a lower-energy layout.</a:t>
            </a:r>
            <a:endParaRPr sz="1200" b="0" i="0" u="none" dirty="0">
              <a:solidFill>
                <a:srgbClr val="475569"/>
              </a:solidFill>
              <a:latin typeface="Inter"/>
            </a:endParaRPr>
          </a:p>
        </p:txBody>
      </p:sp>
      <p:sp>
        <p:nvSpPr>
          <p:cNvPr id="17" name="TextBox 16"/>
          <p:cNvSpPr txBox="1"/>
          <p:nvPr/>
        </p:nvSpPr>
        <p:spPr>
          <a:xfrm>
            <a:off x="6215360" y="3319462"/>
            <a:ext cx="5976639" cy="200025"/>
          </a:xfrm>
          <a:prstGeom prst="rect">
            <a:avLst/>
          </a:prstGeom>
          <a:noFill/>
        </p:spPr>
        <p:txBody>
          <a:bodyPr wrap="none" lIns="0" tIns="0" rIns="0" bIns="0" anchor="t">
            <a:spAutoFit/>
          </a:bodyPr>
          <a:lstStyle/>
          <a:p>
            <a:pPr algn="l"/>
            <a:r>
              <a:rPr sz="1350" b="1" i="0" u="none">
                <a:solidFill>
                  <a:srgbClr val="2563EB"/>
                </a:solidFill>
                <a:latin typeface="Inter"/>
              </a:rPr>
              <a:t>Optimization Algorithm Choice</a:t>
            </a:r>
          </a:p>
        </p:txBody>
      </p:sp>
      <p:sp>
        <p:nvSpPr>
          <p:cNvPr id="18" name="TextBox 17"/>
          <p:cNvSpPr txBox="1"/>
          <p:nvPr/>
        </p:nvSpPr>
        <p:spPr>
          <a:xfrm>
            <a:off x="6215360" y="3576637"/>
            <a:ext cx="5281314" cy="369332"/>
          </a:xfrm>
          <a:prstGeom prst="rect">
            <a:avLst/>
          </a:prstGeom>
          <a:noFill/>
        </p:spPr>
        <p:txBody>
          <a:bodyPr wrap="square" lIns="0" tIns="0" rIns="0" bIns="0" anchor="t">
            <a:spAutoFit/>
          </a:bodyPr>
          <a:lstStyle/>
          <a:p>
            <a:r>
              <a:rPr lang="en-AE" sz="1200" dirty="0">
                <a:latin typeface="Inter"/>
              </a:rPr>
              <a:t>We have simulated and compared three methods: Steepest Descent Method, Fletcher-Reeves Conjugate Gradient Method, and Levenberg-Marquardt Method.</a:t>
            </a:r>
            <a:endParaRPr sz="1200" b="0" i="0" u="none" dirty="0">
              <a:solidFill>
                <a:srgbClr val="475569"/>
              </a:solidFill>
              <a:latin typeface="Inter"/>
            </a:endParaRPr>
          </a:p>
        </p:txBody>
      </p:sp>
      <p:sp>
        <p:nvSpPr>
          <p:cNvPr id="19" name="TextBox 18"/>
          <p:cNvSpPr txBox="1"/>
          <p:nvPr/>
        </p:nvSpPr>
        <p:spPr>
          <a:xfrm>
            <a:off x="6215360" y="4548187"/>
            <a:ext cx="5976639" cy="200025"/>
          </a:xfrm>
          <a:prstGeom prst="rect">
            <a:avLst/>
          </a:prstGeom>
          <a:noFill/>
        </p:spPr>
        <p:txBody>
          <a:bodyPr wrap="none" lIns="0" tIns="0" rIns="0" bIns="0" anchor="t">
            <a:spAutoFit/>
          </a:bodyPr>
          <a:lstStyle/>
          <a:p>
            <a:pPr algn="l"/>
            <a:r>
              <a:rPr sz="1350" b="1" i="0" u="none">
                <a:solidFill>
                  <a:srgbClr val="2563EB"/>
                </a:solidFill>
                <a:latin typeface="Inter"/>
              </a:rPr>
              <a:t>Convergence Criterion</a:t>
            </a:r>
          </a:p>
        </p:txBody>
      </p:sp>
      <p:sp>
        <p:nvSpPr>
          <p:cNvPr id="20" name="TextBox 19"/>
          <p:cNvSpPr txBox="1"/>
          <p:nvPr/>
        </p:nvSpPr>
        <p:spPr>
          <a:xfrm>
            <a:off x="6215360" y="4805362"/>
            <a:ext cx="4123886" cy="184666"/>
          </a:xfrm>
          <a:prstGeom prst="rect">
            <a:avLst/>
          </a:prstGeom>
          <a:noFill/>
        </p:spPr>
        <p:txBody>
          <a:bodyPr wrap="none" lIns="0" tIns="0" rIns="0" bIns="0" anchor="t">
            <a:spAutoFit/>
          </a:bodyPr>
          <a:lstStyle/>
          <a:p>
            <a:r>
              <a:rPr lang="en-AE" sz="1200" dirty="0">
                <a:latin typeface="Inter"/>
              </a:rPr>
              <a:t>The computation stops when the gradient norm falls below 10</a:t>
            </a:r>
            <a:r>
              <a:rPr lang="en-AE" sz="1200" baseline="30000" dirty="0">
                <a:latin typeface="Inter"/>
              </a:rPr>
              <a:t>-4</a:t>
            </a:r>
            <a:r>
              <a:rPr lang="en-AE" sz="1200" dirty="0">
                <a:latin typeface="Inter"/>
              </a:rPr>
              <a:t>.</a:t>
            </a:r>
            <a:endParaRPr sz="1200" b="0" i="0" u="none" dirty="0">
              <a:solidFill>
                <a:srgbClr val="475569"/>
              </a:solidFill>
              <a:latin typeface="Inte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609600" y="5848350"/>
            <a:ext cx="10972800" cy="4000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09600" y="609600"/>
            <a:ext cx="1285875" cy="161925"/>
          </a:xfrm>
          <a:prstGeom prst="rect">
            <a:avLst/>
          </a:prstGeom>
          <a:noFill/>
        </p:spPr>
        <p:txBody>
          <a:bodyPr wrap="none" lIns="0" tIns="0" rIns="0" bIns="0" anchor="t">
            <a:spAutoFit/>
          </a:bodyPr>
          <a:lstStyle/>
          <a:p>
            <a:pPr algn="l"/>
            <a:r>
              <a:rPr sz="1050" b="1" i="0" u="none">
                <a:solidFill>
                  <a:srgbClr val="2563EB"/>
                </a:solidFill>
                <a:latin typeface="Inter"/>
              </a:rPr>
              <a:t>CONCLUSION</a:t>
            </a:r>
          </a:p>
        </p:txBody>
      </p:sp>
      <p:sp>
        <p:nvSpPr>
          <p:cNvPr id="8" name="TextBox 7"/>
          <p:cNvSpPr txBox="1"/>
          <p:nvPr/>
        </p:nvSpPr>
        <p:spPr>
          <a:xfrm>
            <a:off x="9544050" y="609600"/>
            <a:ext cx="2547937" cy="161925"/>
          </a:xfrm>
          <a:prstGeom prst="rect">
            <a:avLst/>
          </a:prstGeom>
          <a:noFill/>
        </p:spPr>
        <p:txBody>
          <a:bodyPr wrap="none" lIns="0" tIns="0" rIns="0" bIns="0" anchor="t">
            <a:spAutoFit/>
          </a:bodyPr>
          <a:lstStyle/>
          <a:p>
            <a:pPr algn="l"/>
            <a:r>
              <a:rPr sz="1050" b="0" i="0" u="none">
                <a:solidFill>
                  <a:srgbClr val="64748B"/>
                </a:solidFill>
                <a:latin typeface="Inter"/>
              </a:rPr>
              <a:t>Engineering Optimization Project</a:t>
            </a:r>
          </a:p>
        </p:txBody>
      </p:sp>
      <p:sp>
        <p:nvSpPr>
          <p:cNvPr id="9" name="TextBox 8"/>
          <p:cNvSpPr txBox="1"/>
          <p:nvPr/>
        </p:nvSpPr>
        <p:spPr>
          <a:xfrm>
            <a:off x="609600" y="1003300"/>
            <a:ext cx="1003801" cy="369332"/>
          </a:xfrm>
          <a:prstGeom prst="rect">
            <a:avLst/>
          </a:prstGeom>
          <a:noFill/>
        </p:spPr>
        <p:txBody>
          <a:bodyPr wrap="none" lIns="0" tIns="0" rIns="0" bIns="0" anchor="t">
            <a:spAutoFit/>
          </a:bodyPr>
          <a:lstStyle/>
          <a:p>
            <a:pPr algn="l"/>
            <a:r>
              <a:rPr lang="en-GB" sz="2400" b="1" dirty="0">
                <a:solidFill>
                  <a:srgbClr val="0F172A"/>
                </a:solidFill>
                <a:latin typeface="Inter"/>
              </a:rPr>
              <a:t>Results:</a:t>
            </a:r>
            <a:endParaRPr sz="2000" b="1" i="0" u="none" dirty="0">
              <a:solidFill>
                <a:srgbClr val="0F172A"/>
              </a:solidFill>
              <a:latin typeface="Inter"/>
            </a:endParaRPr>
          </a:p>
        </p:txBody>
      </p:sp>
      <p:sp>
        <p:nvSpPr>
          <p:cNvPr id="10" name="TextBox 9"/>
          <p:cNvSpPr txBox="1"/>
          <p:nvPr/>
        </p:nvSpPr>
        <p:spPr>
          <a:xfrm>
            <a:off x="609600" y="1419741"/>
            <a:ext cx="6309360" cy="4185761"/>
          </a:xfrm>
          <a:prstGeom prst="rect">
            <a:avLst/>
          </a:prstGeom>
          <a:noFill/>
        </p:spPr>
        <p:txBody>
          <a:bodyPr wrap="square" lIns="0" tIns="0" rIns="0" bIns="0" anchor="t">
            <a:spAutoFit/>
          </a:bodyPr>
          <a:lstStyle/>
          <a:p>
            <a:pPr marL="342900" indent="-342900">
              <a:buFont typeface="+mj-lt"/>
              <a:buAutoNum type="arabicPeriod"/>
            </a:pPr>
            <a:r>
              <a:rPr lang="en-AE" sz="1600" dirty="0"/>
              <a:t>Steepest descent is the slowest because it zig-zags. Conjugate gradient avoids this by reusing the previous direction.</a:t>
            </a:r>
          </a:p>
          <a:p>
            <a:pPr marL="342900" indent="-342900">
              <a:buFont typeface="+mj-lt"/>
              <a:buAutoNum type="arabicPeriod"/>
            </a:pPr>
            <a:endParaRPr lang="en-AE" sz="1600" dirty="0"/>
          </a:p>
          <a:p>
            <a:pPr marL="342900" lvl="0" indent="-342900">
              <a:buFont typeface="+mj-lt"/>
              <a:buAutoNum type="arabicPeriod"/>
            </a:pPr>
            <a:r>
              <a:rPr lang="en-AE" sz="1600" dirty="0"/>
              <a:t>Conjugate gradient is the fastest of the three. It needs far fewer iterations and less time than steepest descent.</a:t>
            </a:r>
          </a:p>
          <a:p>
            <a:pPr marL="342900" lvl="0" indent="-342900">
              <a:buFont typeface="+mj-lt"/>
              <a:buAutoNum type="arabicPeriod"/>
            </a:pPr>
            <a:endParaRPr lang="en-AE" sz="1600" dirty="0"/>
          </a:p>
          <a:p>
            <a:pPr marL="342900" lvl="0" indent="-342900">
              <a:buFont typeface="+mj-lt"/>
              <a:buAutoNum type="arabicPeriod"/>
            </a:pPr>
            <a:r>
              <a:rPr lang="en-AE" sz="1600" dirty="0"/>
              <a:t>Levenberg-Marquardt takes more iterations than conjugate gradient but is close to it in time. Each step costs more, since it needs a Jacobian and a matrix solve.</a:t>
            </a:r>
          </a:p>
          <a:p>
            <a:pPr marL="342900" lvl="0" indent="-342900">
              <a:buFont typeface="+mj-lt"/>
              <a:buAutoNum type="arabicPeriod"/>
            </a:pPr>
            <a:endParaRPr lang="en-AE" sz="1600" dirty="0"/>
          </a:p>
          <a:p>
            <a:pPr marL="342900" lvl="0" indent="-342900">
              <a:buFont typeface="+mj-lt"/>
              <a:buAutoNum type="arabicPeriod"/>
            </a:pPr>
            <a:r>
              <a:rPr lang="en-AE" sz="1600" dirty="0"/>
              <a:t>Conjugate gradient is not best everywhere. Levenberg-Marquardt needed slightly fewer iterations on the small grid, and was a hair faster on the clustered graph.</a:t>
            </a:r>
          </a:p>
          <a:p>
            <a:pPr marL="342900" lvl="0" indent="-342900">
              <a:buFont typeface="+mj-lt"/>
              <a:buAutoNum type="arabicPeriod"/>
            </a:pPr>
            <a:endParaRPr lang="en-AE" sz="1600" dirty="0"/>
          </a:p>
          <a:p>
            <a:pPr marL="342900" lvl="0" indent="-342900">
              <a:buFont typeface="+mj-lt"/>
              <a:buAutoNum type="arabicPeriod"/>
            </a:pPr>
            <a:r>
              <a:rPr lang="en-AE" sz="1600" dirty="0"/>
              <a:t>In conclusion, Conjugate Gradient is the fastest overall, Levenberg-Marquardt is close behind, and steepest descent is far behind, but all three give equally good layouts.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90</TotalTime>
  <Words>489</Words>
  <Application>Microsoft Office PowerPoint</Application>
  <PresentationFormat>Widescreen</PresentationFormat>
  <Paragraphs>48</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Inter</vt:lpstr>
      <vt:lpstr>Calibri</vt:lpstr>
      <vt:lpstr>Arial</vt:lpstr>
      <vt:lpstr>Office Theme</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GAURANGAGRAWAL</dc:creator>
  <cp:keywords/>
  <dc:description>generated using python-pptx</dc:description>
  <cp:lastModifiedBy>Gaurang Agrawal</cp:lastModifiedBy>
  <cp:revision>2</cp:revision>
  <dcterms:created xsi:type="dcterms:W3CDTF">2013-01-27T09:14:16Z</dcterms:created>
  <dcterms:modified xsi:type="dcterms:W3CDTF">2026-10-29T19:57:20Z</dcterms:modified>
  <cp:category/>
</cp:coreProperties>
</file>