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806771c-2b98-01d5-8864-a91976bf1c8b}">
          <p14:sldIdLst>
            <p14:sldId id="256"/>
          </p14:sldIdLst>
        </p14:section>
        <p14:section name="Model" id="{9c5b97e5-3213-da95-f88a-f73ed950bdd8}">
          <p14:sldIdLst>
            <p14:sldId id="257"/>
            <p14:sldId id="258"/>
            <p14:sldId id="259"/>
          </p14:sldIdLst>
        </p14:section>
        <p14:section name="Method" id="{1cd9bffa-9e21-6c77-2ea4-dc3a452c838f}">
          <p14:sldIdLst>
            <p14:sldId id="260"/>
          </p14:sldIdLst>
        </p14:section>
        <p14:section name="Results" id="{2c12c565-3e23-1c90-4369-423577493aac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dcdd5449-d765-99f9-0a4c-cb3242596c2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Median iterations to converge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Steepest descent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947</c:v>
                </c:pt>
                <c:pt idx="1">
                  <c:v>1053.5</c:v>
                </c:pt>
                <c:pt idx="2">
                  <c:v>773.5</c:v>
                </c:pt>
                <c:pt idx="3">
                  <c:v>1140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Conjugate gradient (FR)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107</c:v>
                </c:pt>
                <c:pt idx="1">
                  <c:v>106</c:v>
                </c:pt>
                <c:pt idx="2">
                  <c:v>115</c:v>
                </c:pt>
                <c:pt idx="3">
                  <c:v>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Levenberg-Marquardt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163.5</c:v>
                </c:pt>
                <c:pt idx="1">
                  <c:v>304.5</c:v>
                </c:pt>
                <c:pt idx="2">
                  <c:v>446.5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10"/>
        </c:scaling>
        <c:delete val="0"/>
        <c:axPos val="l"/>
        <c:majorGridlines>
          <c:spPr>
            <a:ln w="9525" cap="flat">
              <a:solidFill>
                <a:srgbClr val="D9DE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Median wall-clock time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Steepest descent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2.3066538379999884</c:v>
                </c:pt>
                <c:pt idx="1">
                  <c:v>2.0938884089999874</c:v>
                </c:pt>
                <c:pt idx="2">
                  <c:v>1.7132604199999832</c:v>
                </c:pt>
                <c:pt idx="3">
                  <c:v>2.14086176349997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Conjugate gradient (FR)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0.2698252819999425</c:v>
                </c:pt>
                <c:pt idx="1">
                  <c:v>0.2211426640000127</c:v>
                </c:pt>
                <c:pt idx="2">
                  <c:v>0.24515952799993102</c:v>
                </c:pt>
                <c:pt idx="3">
                  <c:v>0.1578073374998894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Levenberg-Marquardt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  <c:pt idx="3">
                    <c:v>clusters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0.26187327599996024</c:v>
                </c:pt>
                <c:pt idx="1">
                  <c:v>0.28119940849990144</c:v>
                </c:pt>
                <c:pt idx="2">
                  <c:v>0.35990213000002313</c:v>
                </c:pt>
                <c:pt idx="3">
                  <c:v>0.16601436100006595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E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Runs ending with zero edge crossings (%), planar graphs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Steepest descent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Conjugate gradient (FR)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Levenberg-Marquardt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grid</c:v>
                  </c:pt>
                  <c:pt idx="1">
                    <c:v>net</c:v>
                  </c:pt>
                  <c:pt idx="2">
                    <c:v>tree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E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drawing a graph nicely is an optimization problem. Left to right in this picture is what our code does in about a quarter of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intuition as Obsidian's graph view or a network diagram tool. The only thing we add is to make it precise: one number, the total energy, and minimize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Repulsion is a smooth version of the classic Fruchterman-Reingold law (force ~ 1/d). It is written so that E is a sum of squares, which is what makes Levenberg-Marquardt applicable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(dynamic programming) is not used here. Everything is Modules 1 and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start from the same random layout. SD and CG share the same line search so the comparison isolates the choice of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untangling happens in the first 15 iterations; the rest is polishing edge lengths until the gradient is 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GIF in slideshow mode. If the animation does not play in your viewer, the four-snapshot slide before this one shows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reach E = 112.79, the same layout up to rotation. The difference is only how long it takes. LM has a bump in the gradient norm where it takes a large trust-region step across a saddle.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Benchmark: 4 graphs x 20 random starts x 3 methods. Same start for all three methods, same 3000-iteration budget, stop when the gradient norm is below 1e-4. All 240 runs converged.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Crossings are only meaningful for planar graphs (a crossing-free drawing exists), so the clustered graph with K6 cliques is excluded from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these in the viva: the first model did not work, we diagnosed it by starting the optimizer from the known-good drawing, and we fixed the energy rather than tuning the optimizer.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this slide if you are short on time; the repository README has the same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5778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Force-directed graph layout  |  Optimization mini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Untangling Graphs with Optimization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Force-directed layout as unconstrained minimization of an energy function</a:t>
            </a:r>
            <a:endParaRPr lang="en-US" sz="2000" dirty="0"/>
          </a:p>
        </p:txBody>
      </p:sp>
      <p:sp>
        <p:nvSpPr>
          <p:cNvPr id="4" name="Course tag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Optimization  |  Mini project</a:t>
            </a:r>
            <a:endParaRPr lang="en-US" sz="1600" dirty="0"/>
          </a:p>
        </p:txBody>
      </p:sp>
      <p:sp>
        <p:nvSpPr>
          <p:cNvPr id="5" name="Hero card"/>
          <p:cNvSpPr/>
          <p:nvPr/>
        </p:nvSpPr>
        <p:spPr>
          <a:xfrm>
            <a:off x="6537960" y="1600200"/>
            <a:ext cx="516636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/>
        </p:spPr>
      </p:sp>
      <p:pic>
        <p:nvPicPr>
          <p:cNvPr id="6" name="Image 0" descr="A tangled random layout of a 30-node graph next to the same graph after optimization, with no edge cross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92750"/>
            <a:ext cx="4892040" cy="2661020"/>
          </a:xfrm>
          <a:prstGeom prst="rect">
            <a:avLst/>
          </a:prstGeom>
        </p:spPr>
      </p:pic>
      <p:sp>
        <p:nvSpPr>
          <p:cNvPr id="7" name="Hero caption"/>
          <p:cNvSpPr txBox="1"/>
          <p:nvPr/>
        </p:nvSpPr>
        <p:spPr>
          <a:xfrm>
            <a:off x="6537960" y="50749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30 nodes, 52 edges: 242 crossings from a random start, 0 after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Nodes repel, edges pull</a:t>
            </a:r>
            <a:endParaRPr lang="en-US" sz="3400" dirty="0"/>
          </a:p>
        </p:txBody>
      </p:sp>
      <p:sp>
        <p:nvSpPr>
          <p:cNvPr id="3" name="Idea card 1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Idea number 1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Idea number 1 label"/>
          <p:cNvSpPr txBox="1"/>
          <p:nvPr/>
        </p:nvSpPr>
        <p:spPr>
          <a:xfrm>
            <a:off x="77724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Idea title 1"/>
          <p:cNvSpPr txBox="1"/>
          <p:nvPr/>
        </p:nvSpPr>
        <p:spPr>
          <a:xfrm>
            <a:off x="1645920" y="1664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Nodes are charged particles</a:t>
            </a:r>
            <a:endParaRPr lang="en-US" sz="2000" dirty="0"/>
          </a:p>
        </p:txBody>
      </p:sp>
      <p:sp>
        <p:nvSpPr>
          <p:cNvPr id="7" name="Idea text 1"/>
          <p:cNvSpPr txBox="1"/>
          <p:nvPr/>
        </p:nvSpPr>
        <p:spPr>
          <a:xfrm>
            <a:off x="1645920" y="2103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pair pushes apart, so nodes never pile up on each other.</a:t>
            </a:r>
            <a:endParaRPr lang="en-US" sz="1500" dirty="0"/>
          </a:p>
        </p:txBody>
      </p:sp>
      <p:sp>
        <p:nvSpPr>
          <p:cNvPr id="8" name="Idea card 2"/>
          <p:cNvSpPr/>
          <p:nvPr/>
        </p:nvSpPr>
        <p:spPr>
          <a:xfrm>
            <a:off x="548640" y="29718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Idea number 2"/>
          <p:cNvSpPr/>
          <p:nvPr/>
        </p:nvSpPr>
        <p:spPr>
          <a:xfrm>
            <a:off x="777240" y="33192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Idea number 2 label"/>
          <p:cNvSpPr txBox="1"/>
          <p:nvPr/>
        </p:nvSpPr>
        <p:spPr>
          <a:xfrm>
            <a:off x="77724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Idea title 2"/>
          <p:cNvSpPr txBox="1"/>
          <p:nvPr/>
        </p:nvSpPr>
        <p:spPr>
          <a:xfrm>
            <a:off x="164592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Edges are springs</a:t>
            </a:r>
            <a:endParaRPr lang="en-US" sz="2000" dirty="0"/>
          </a:p>
        </p:txBody>
      </p:sp>
      <p:sp>
        <p:nvSpPr>
          <p:cNvPr id="12" name="Idea text 2"/>
          <p:cNvSpPr txBox="1"/>
          <p:nvPr/>
        </p:nvSpPr>
        <p:spPr>
          <a:xfrm>
            <a:off x="1645920" y="3611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connected pair is pulled toward a rest length of 1.</a:t>
            </a:r>
            <a:endParaRPr lang="en-US" sz="1500" dirty="0"/>
          </a:p>
        </p:txBody>
      </p:sp>
      <p:sp>
        <p:nvSpPr>
          <p:cNvPr id="13" name="Idea card 3"/>
          <p:cNvSpPr/>
          <p:nvPr/>
        </p:nvSpPr>
        <p:spPr>
          <a:xfrm>
            <a:off x="548640" y="448056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Idea number 3"/>
          <p:cNvSpPr/>
          <p:nvPr/>
        </p:nvSpPr>
        <p:spPr>
          <a:xfrm>
            <a:off x="777240" y="4828032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Idea number 3 label"/>
          <p:cNvSpPr txBox="1"/>
          <p:nvPr/>
        </p:nvSpPr>
        <p:spPr>
          <a:xfrm>
            <a:off x="77724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Idea title 3"/>
          <p:cNvSpPr txBox="1"/>
          <p:nvPr/>
        </p:nvSpPr>
        <p:spPr>
          <a:xfrm>
            <a:off x="1645920" y="4681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Best picture = lowest energy</a:t>
            </a:r>
            <a:endParaRPr lang="en-US" sz="2000" dirty="0"/>
          </a:p>
        </p:txBody>
      </p:sp>
      <p:sp>
        <p:nvSpPr>
          <p:cNvPr id="17" name="Idea text 3"/>
          <p:cNvSpPr txBox="1"/>
          <p:nvPr/>
        </p:nvSpPr>
        <p:spPr>
          <a:xfrm>
            <a:off x="164592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all coordinates (x, y) that minimize the total energy E.</a:t>
            </a:r>
            <a:endParaRPr lang="en-US" sz="1500" dirty="0"/>
          </a:p>
        </p:txBody>
      </p:sp>
      <p:sp>
        <p:nvSpPr>
          <p:cNvPr id="18" name="Diagram panel"/>
          <p:cNvSpPr/>
          <p:nvPr/>
        </p:nvSpPr>
        <p:spPr>
          <a:xfrm>
            <a:off x="6400800" y="1463040"/>
            <a:ext cx="5239512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</p:spPr>
      </p:sp>
      <p:sp>
        <p:nvSpPr>
          <p:cNvPr id="19" name="Spring node A"/>
          <p:cNvSpPr/>
          <p:nvPr/>
        </p:nvSpPr>
        <p:spPr>
          <a:xfrm>
            <a:off x="731520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pring node B"/>
          <p:cNvSpPr/>
          <p:nvPr/>
        </p:nvSpPr>
        <p:spPr>
          <a:xfrm>
            <a:off x="1024128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pring"/>
          <p:cNvSpPr/>
          <p:nvPr/>
        </p:nvSpPr>
        <p:spPr>
          <a:xfrm>
            <a:off x="7772400" y="2560320"/>
            <a:ext cx="24688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</p:sp>
      <p:sp>
        <p:nvSpPr>
          <p:cNvPr id="22" name="Pull arrow left"/>
          <p:cNvSpPr/>
          <p:nvPr/>
        </p:nvSpPr>
        <p:spPr>
          <a:xfrm>
            <a:off x="7818120" y="205740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Pull arrow right"/>
          <p:cNvSpPr/>
          <p:nvPr/>
        </p:nvSpPr>
        <p:spPr>
          <a:xfrm flipH="1">
            <a:off x="9555480" y="205740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pring caption"/>
          <p:cNvSpPr txBox="1"/>
          <p:nvPr/>
        </p:nvSpPr>
        <p:spPr>
          <a:xfrm>
            <a:off x="6675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Springs pull connected nodes together</a:t>
            </a:r>
            <a:endParaRPr lang="en-US" sz="1600" dirty="0"/>
          </a:p>
        </p:txBody>
      </p:sp>
      <p:sp>
        <p:nvSpPr>
          <p:cNvPr id="25" name="Charge node A"/>
          <p:cNvSpPr/>
          <p:nvPr/>
        </p:nvSpPr>
        <p:spPr>
          <a:xfrm>
            <a:off x="813816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Charge node B"/>
          <p:cNvSpPr/>
          <p:nvPr/>
        </p:nvSpPr>
        <p:spPr>
          <a:xfrm>
            <a:off x="941832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Push arrow left"/>
          <p:cNvSpPr/>
          <p:nvPr/>
        </p:nvSpPr>
        <p:spPr>
          <a:xfrm flipH="1">
            <a:off x="7040880" y="4434840"/>
            <a:ext cx="10058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Push arrow right"/>
          <p:cNvSpPr/>
          <p:nvPr/>
        </p:nvSpPr>
        <p:spPr>
          <a:xfrm>
            <a:off x="9966960" y="4434840"/>
            <a:ext cx="10058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Charge caption"/>
          <p:cNvSpPr txBox="1"/>
          <p:nvPr/>
        </p:nvSpPr>
        <p:spPr>
          <a:xfrm>
            <a:off x="667512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Charges push every pair apart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number to minimize: the total energy</a:t>
            </a:r>
            <a:endParaRPr lang="en-US" sz="3400" dirty="0"/>
          </a:p>
        </p:txBody>
      </p:sp>
      <p:sp>
        <p:nvSpPr>
          <p:cNvPr id="3" name="Variables"/>
          <p:cNvSpPr txBox="1"/>
          <p:nvPr/>
        </p:nvSpPr>
        <p:spPr>
          <a:xfrm>
            <a:off x="548640" y="1325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E(z) with z = (x1, y1, ..., xn, yn): 2n unknowns, no constraints</a:t>
            </a:r>
            <a:endParaRPr lang="en-US" sz="1600" dirty="0"/>
          </a:p>
        </p:txBody>
      </p:sp>
      <p:sp>
        <p:nvSpPr>
          <p:cNvPr id="4" name="Term card 1"/>
          <p:cNvSpPr/>
          <p:nvPr/>
        </p:nvSpPr>
        <p:spPr>
          <a:xfrm>
            <a:off x="548640" y="1920240"/>
            <a:ext cx="5852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Term marker 1"/>
          <p:cNvSpPr/>
          <p:nvPr/>
        </p:nvSpPr>
        <p:spPr>
          <a:xfrm>
            <a:off x="777240" y="23774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rm title 1"/>
          <p:cNvSpPr txBox="1"/>
          <p:nvPr/>
        </p:nvSpPr>
        <p:spPr>
          <a:xfrm>
            <a:off x="1234440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Springs (edges)</a:t>
            </a:r>
            <a:endParaRPr lang="en-US" sz="1800" dirty="0"/>
          </a:p>
        </p:txBody>
      </p:sp>
      <p:sp>
        <p:nvSpPr>
          <p:cNvPr id="7" name="Term formula 1"/>
          <p:cNvSpPr txBox="1"/>
          <p:nvPr/>
        </p:nvSpPr>
        <p:spPr>
          <a:xfrm>
            <a:off x="1234440" y="2514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· k · (d − L)²</a:t>
            </a:r>
            <a:endParaRPr lang="en-US" sz="1800" dirty="0"/>
          </a:p>
        </p:txBody>
      </p:sp>
      <p:sp>
        <p:nvSpPr>
          <p:cNvPr id="8" name="Term card 2"/>
          <p:cNvSpPr/>
          <p:nvPr/>
        </p:nvSpPr>
        <p:spPr>
          <a:xfrm>
            <a:off x="548640" y="3291840"/>
            <a:ext cx="5852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Term marker 2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rm title 2"/>
          <p:cNvSpPr txBox="1"/>
          <p:nvPr/>
        </p:nvSpPr>
        <p:spPr>
          <a:xfrm>
            <a:off x="123444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Repulsion (all pairs)</a:t>
            </a:r>
            <a:endParaRPr lang="en-US" sz="1800" dirty="0"/>
          </a:p>
        </p:txBody>
      </p:sp>
      <p:sp>
        <p:nvSpPr>
          <p:cNvPr id="11" name="Term formula 2"/>
          <p:cNvSpPr txBox="1"/>
          <p:nvPr/>
        </p:nvSpPr>
        <p:spPr>
          <a:xfrm>
            <a:off x="1234440" y="3886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· c · L² · ln(1 + R² / (d² + ε²))</a:t>
            </a:r>
            <a:endParaRPr lang="en-US" sz="1800" dirty="0"/>
          </a:p>
        </p:txBody>
      </p:sp>
      <p:sp>
        <p:nvSpPr>
          <p:cNvPr id="12" name="Term card 3"/>
          <p:cNvSpPr/>
          <p:nvPr/>
        </p:nvSpPr>
        <p:spPr>
          <a:xfrm>
            <a:off x="548640" y="4663440"/>
            <a:ext cx="5852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rm marker 3"/>
          <p:cNvSpPr/>
          <p:nvPr/>
        </p:nvSpPr>
        <p:spPr>
          <a:xfrm>
            <a:off x="777240" y="512064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rm title 3"/>
          <p:cNvSpPr txBox="1"/>
          <p:nvPr/>
        </p:nvSpPr>
        <p:spPr>
          <a:xfrm>
            <a:off x="1234440" y="4818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Gravity (centering)</a:t>
            </a:r>
            <a:endParaRPr lang="en-US" sz="1800" dirty="0"/>
          </a:p>
        </p:txBody>
      </p:sp>
      <p:sp>
        <p:nvSpPr>
          <p:cNvPr id="15" name="Term formula 3"/>
          <p:cNvSpPr txBox="1"/>
          <p:nvPr/>
        </p:nvSpPr>
        <p:spPr>
          <a:xfrm>
            <a:off x="123444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· g · |z|²</a:t>
            </a:r>
            <a:endParaRPr lang="en-US" sz="1800" dirty="0"/>
          </a:p>
        </p:txBody>
      </p:sp>
      <p:pic>
        <p:nvPicPr>
          <p:cNvPr id="16" name="Image 0" descr="Spring energy, repulsion energy and their sum as functions of the distance between two no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00200"/>
            <a:ext cx="4937760" cy="3231988"/>
          </a:xfrm>
          <a:prstGeom prst="rect">
            <a:avLst/>
          </a:prstGeom>
        </p:spPr>
      </p:pic>
      <p:sp>
        <p:nvSpPr>
          <p:cNvPr id="17" name="Plot caption"/>
          <p:cNvSpPr txBox="1"/>
          <p:nvPr/>
        </p:nvSpPr>
        <p:spPr>
          <a:xfrm>
            <a:off x="6720840" y="49693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 = distance between two nodes. A connected pair settles where spring and repulsion balance. Constants: L = 1, k = 1, c = 0.3, R = 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the syllabus shows up</a:t>
            </a:r>
            <a:endParaRPr lang="en-US" sz="3400" dirty="0"/>
          </a:p>
        </p:txBody>
      </p:sp>
      <p:sp>
        <p:nvSpPr>
          <p:cNvPr id="3" name="Syllabus card 1"/>
          <p:cNvSpPr/>
          <p:nvPr/>
        </p:nvSpPr>
        <p:spPr>
          <a:xfrm>
            <a:off x="548640" y="141732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Syllabus marker 1"/>
          <p:cNvSpPr/>
          <p:nvPr/>
        </p:nvSpPr>
        <p:spPr>
          <a:xfrm>
            <a:off x="822960" y="1709928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Syllabus module 1"/>
          <p:cNvSpPr txBox="1"/>
          <p:nvPr/>
        </p:nvSpPr>
        <p:spPr>
          <a:xfrm>
            <a:off x="118872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Module 1</a:t>
            </a:r>
            <a:endParaRPr lang="en-US" sz="1400" dirty="0"/>
          </a:p>
        </p:txBody>
      </p:sp>
      <p:sp>
        <p:nvSpPr>
          <p:cNvPr id="6" name="Syllabus title 1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Line search</a:t>
            </a:r>
            <a:endParaRPr lang="en-US" sz="2000" dirty="0"/>
          </a:p>
        </p:txBody>
      </p:sp>
      <p:sp>
        <p:nvSpPr>
          <p:cNvPr id="7" name="Syllabus text 1"/>
          <p:cNvSpPr txBox="1"/>
          <p:nvPr/>
        </p:nvSpPr>
        <p:spPr>
          <a:xfrm>
            <a:off x="822960" y="24414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Bounding phase plus golden-section search pick the step length along every direction.</a:t>
            </a:r>
            <a:endParaRPr lang="en-US" sz="1500" dirty="0"/>
          </a:p>
        </p:txBody>
      </p:sp>
      <p:sp>
        <p:nvSpPr>
          <p:cNvPr id="8" name="Syllabus card 2"/>
          <p:cNvSpPr/>
          <p:nvPr/>
        </p:nvSpPr>
        <p:spPr>
          <a:xfrm>
            <a:off x="6199632" y="141732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Syllabus marker 2"/>
          <p:cNvSpPr/>
          <p:nvPr/>
        </p:nvSpPr>
        <p:spPr>
          <a:xfrm>
            <a:off x="6473952" y="170992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Syllabus module 2"/>
          <p:cNvSpPr txBox="1"/>
          <p:nvPr/>
        </p:nvSpPr>
        <p:spPr>
          <a:xfrm>
            <a:off x="6839712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Module 2</a:t>
            </a:r>
            <a:endParaRPr lang="en-US" sz="1400" dirty="0"/>
          </a:p>
        </p:txBody>
      </p:sp>
      <p:sp>
        <p:nvSpPr>
          <p:cNvPr id="11" name="Syllabus title 2"/>
          <p:cNvSpPr txBox="1"/>
          <p:nvPr/>
        </p:nvSpPr>
        <p:spPr>
          <a:xfrm>
            <a:off x="6473952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Steepest descent</a:t>
            </a:r>
            <a:endParaRPr lang="en-US" sz="2000" dirty="0"/>
          </a:p>
        </p:txBody>
      </p:sp>
      <p:sp>
        <p:nvSpPr>
          <p:cNvPr id="12" name="Syllabus text 2"/>
          <p:cNvSpPr txBox="1"/>
          <p:nvPr/>
        </p:nvSpPr>
        <p:spPr>
          <a:xfrm>
            <a:off x="6473952" y="24414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Follow the negative gradient. Simple, but zig-zags in narrow valleys.</a:t>
            </a:r>
            <a:endParaRPr lang="en-US" sz="1500" dirty="0"/>
          </a:p>
        </p:txBody>
      </p:sp>
      <p:sp>
        <p:nvSpPr>
          <p:cNvPr id="13" name="Syllabus card 3"/>
          <p:cNvSpPr/>
          <p:nvPr/>
        </p:nvSpPr>
        <p:spPr>
          <a:xfrm>
            <a:off x="548640" y="338328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Syllabus marker 3"/>
          <p:cNvSpPr/>
          <p:nvPr/>
        </p:nvSpPr>
        <p:spPr>
          <a:xfrm>
            <a:off x="822960" y="36758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yllabus module 3"/>
          <p:cNvSpPr txBox="1"/>
          <p:nvPr/>
        </p:nvSpPr>
        <p:spPr>
          <a:xfrm>
            <a:off x="1188720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Module 2</a:t>
            </a:r>
            <a:endParaRPr lang="en-US" sz="1400" dirty="0"/>
          </a:p>
        </p:txBody>
      </p:sp>
      <p:sp>
        <p:nvSpPr>
          <p:cNvPr id="16" name="Syllabus title 3"/>
          <p:cNvSpPr txBox="1"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Fletcher-Reeves conjugate gradient</a:t>
            </a:r>
            <a:endParaRPr lang="en-US" sz="2000" dirty="0"/>
          </a:p>
        </p:txBody>
      </p:sp>
      <p:sp>
        <p:nvSpPr>
          <p:cNvPr id="17" name="Syllabus text 3"/>
          <p:cNvSpPr txBox="1"/>
          <p:nvPr/>
        </p:nvSpPr>
        <p:spPr>
          <a:xfrm>
            <a:off x="822960" y="440740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Blend in the previous direction to stop the zig-zag, with no matrix needed.</a:t>
            </a:r>
            <a:endParaRPr lang="en-US" sz="1500" dirty="0"/>
          </a:p>
        </p:txBody>
      </p:sp>
      <p:sp>
        <p:nvSpPr>
          <p:cNvPr id="18" name="Syllabus card 4"/>
          <p:cNvSpPr/>
          <p:nvPr/>
        </p:nvSpPr>
        <p:spPr>
          <a:xfrm>
            <a:off x="6199632" y="338328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Syllabus marker 4"/>
          <p:cNvSpPr/>
          <p:nvPr/>
        </p:nvSpPr>
        <p:spPr>
          <a:xfrm>
            <a:off x="6473952" y="367588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Syllabus module 4"/>
          <p:cNvSpPr txBox="1"/>
          <p:nvPr/>
        </p:nvSpPr>
        <p:spPr>
          <a:xfrm>
            <a:off x="6839712" y="3630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Module 2</a:t>
            </a:r>
            <a:endParaRPr lang="en-US" sz="1400" dirty="0"/>
          </a:p>
        </p:txBody>
      </p:sp>
      <p:sp>
        <p:nvSpPr>
          <p:cNvPr id="21" name="Syllabus title 4"/>
          <p:cNvSpPr txBox="1"/>
          <p:nvPr/>
        </p:nvSpPr>
        <p:spPr>
          <a:xfrm>
            <a:off x="6473952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Levenberg-Marquardt</a:t>
            </a:r>
            <a:endParaRPr lang="en-US" sz="2000" dirty="0"/>
          </a:p>
        </p:txBody>
      </p:sp>
      <p:sp>
        <p:nvSpPr>
          <p:cNvPr id="22" name="Syllabus text 4"/>
          <p:cNvSpPr txBox="1"/>
          <p:nvPr/>
        </p:nvSpPr>
        <p:spPr>
          <a:xfrm>
            <a:off x="6473952" y="440740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 is a sum of squares, so J^T J approximates the Hessian and λ blends Newton with gradient steps.</a:t>
            </a:r>
            <a:endParaRPr lang="en-US" sz="1500" dirty="0"/>
          </a:p>
        </p:txBody>
      </p:sp>
      <p:sp>
        <p:nvSpPr>
          <p:cNvPr id="23" name="Syllabus extras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Also used: analytic gradient and Jacobian (checked against finite differences), convergence rate and rate constant, local versus global minima of a non-convex function.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optimizers, one energy function</a:t>
            </a:r>
            <a:endParaRPr lang="en-US" sz="3400" dirty="0"/>
          </a:p>
        </p:txBody>
      </p:sp>
      <p:sp>
        <p:nvSpPr>
          <p:cNvPr id="3" name="Method card 1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Method marker 1"/>
          <p:cNvSpPr/>
          <p:nvPr/>
        </p:nvSpPr>
        <p:spPr>
          <a:xfrm>
            <a:off x="822960" y="17190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Method colour 1"/>
          <p:cNvSpPr/>
          <p:nvPr/>
        </p:nvSpPr>
        <p:spPr>
          <a:xfrm>
            <a:off x="822960" y="1719072"/>
            <a:ext cx="292608" cy="29260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6" name="Method title 1"/>
          <p:cNvSpPr txBox="1"/>
          <p:nvPr/>
        </p:nvSpPr>
        <p:spPr>
          <a:xfrm>
            <a:off x="1234440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Steepest descent</a:t>
            </a:r>
            <a:endParaRPr lang="en-US" sz="2000" dirty="0"/>
          </a:p>
        </p:txBody>
      </p:sp>
      <p:sp>
        <p:nvSpPr>
          <p:cNvPr id="7" name="Method 1 label 1"/>
          <p:cNvSpPr txBox="1"/>
          <p:nvPr/>
        </p:nvSpPr>
        <p:spPr>
          <a:xfrm>
            <a:off x="82296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Direction</a:t>
            </a:r>
            <a:endParaRPr lang="en-US" sz="1300" dirty="0"/>
          </a:p>
        </p:txBody>
      </p:sp>
      <p:sp>
        <p:nvSpPr>
          <p:cNvPr id="8" name="Method 1 text 1"/>
          <p:cNvSpPr txBox="1"/>
          <p:nvPr/>
        </p:nvSpPr>
        <p:spPr>
          <a:xfrm>
            <a:off x="822960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−∇E</a:t>
            </a:r>
            <a:endParaRPr lang="en-US" sz="1600" dirty="0"/>
          </a:p>
        </p:txBody>
      </p:sp>
      <p:sp>
        <p:nvSpPr>
          <p:cNvPr id="9" name="Method 1 label 2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length</a:t>
            </a:r>
            <a:endParaRPr lang="en-US" sz="1300" dirty="0"/>
          </a:p>
        </p:txBody>
      </p:sp>
      <p:sp>
        <p:nvSpPr>
          <p:cNvPr id="10" name="Method 1 text 2"/>
          <p:cNvSpPr txBox="1"/>
          <p:nvPr/>
        </p:nvSpPr>
        <p:spPr>
          <a:xfrm>
            <a:off x="822960" y="38587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golden-section line search</a:t>
            </a:r>
            <a:endParaRPr lang="en-US" sz="1500" dirty="0"/>
          </a:p>
        </p:txBody>
      </p:sp>
      <p:sp>
        <p:nvSpPr>
          <p:cNvPr id="11" name="Method 1 label 3"/>
          <p:cNvSpPr txBox="1"/>
          <p:nvPr/>
        </p:nvSpPr>
        <p:spPr>
          <a:xfrm>
            <a:off x="82296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Behaviour</a:t>
            </a:r>
            <a:endParaRPr lang="en-US" sz="1300" dirty="0"/>
          </a:p>
        </p:txBody>
      </p:sp>
      <p:sp>
        <p:nvSpPr>
          <p:cNvPr id="12" name="Method 1 text 3"/>
          <p:cNvSpPr txBox="1"/>
          <p:nvPr/>
        </p:nvSpPr>
        <p:spPr>
          <a:xfrm>
            <a:off x="822960" y="50474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Zig-zags along narrow valleys, so it is slow (rate q = 0.99).</a:t>
            </a:r>
            <a:endParaRPr lang="en-US" sz="1500" dirty="0"/>
          </a:p>
        </p:txBody>
      </p:sp>
      <p:sp>
        <p:nvSpPr>
          <p:cNvPr id="13" name="Method card 2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Method marker 2"/>
          <p:cNvSpPr/>
          <p:nvPr/>
        </p:nvSpPr>
        <p:spPr>
          <a:xfrm>
            <a:off x="4590288" y="17190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Method colour 2"/>
          <p:cNvSpPr/>
          <p:nvPr/>
        </p:nvSpPr>
        <p:spPr>
          <a:xfrm>
            <a:off x="4590288" y="1719072"/>
            <a:ext cx="292608" cy="292608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6" name="Method title 2"/>
          <p:cNvSpPr txBox="1"/>
          <p:nvPr/>
        </p:nvSpPr>
        <p:spPr>
          <a:xfrm>
            <a:off x="5001768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Fletcher-Reeves CG</a:t>
            </a:r>
            <a:endParaRPr lang="en-US" sz="2000" dirty="0"/>
          </a:p>
        </p:txBody>
      </p:sp>
      <p:sp>
        <p:nvSpPr>
          <p:cNvPr id="17" name="Method 2 label 1"/>
          <p:cNvSpPr txBox="1"/>
          <p:nvPr/>
        </p:nvSpPr>
        <p:spPr>
          <a:xfrm>
            <a:off x="4590288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Direction</a:t>
            </a:r>
            <a:endParaRPr lang="en-US" sz="1300" dirty="0"/>
          </a:p>
        </p:txBody>
      </p:sp>
      <p:sp>
        <p:nvSpPr>
          <p:cNvPr id="18" name="Method 2 text 1"/>
          <p:cNvSpPr txBox="1"/>
          <p:nvPr/>
        </p:nvSpPr>
        <p:spPr>
          <a:xfrm>
            <a:off x="4590288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 = −g' + β · 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|g'|² / |g|²</a:t>
            </a:r>
            <a:endParaRPr lang="en-US" sz="1600" dirty="0"/>
          </a:p>
        </p:txBody>
      </p:sp>
      <p:sp>
        <p:nvSpPr>
          <p:cNvPr id="19" name="Method 2 label 2"/>
          <p:cNvSpPr txBox="1"/>
          <p:nvPr/>
        </p:nvSpPr>
        <p:spPr>
          <a:xfrm>
            <a:off x="4590288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length</a:t>
            </a:r>
            <a:endParaRPr lang="en-US" sz="1300" dirty="0"/>
          </a:p>
        </p:txBody>
      </p:sp>
      <p:sp>
        <p:nvSpPr>
          <p:cNvPr id="20" name="Method 2 text 2"/>
          <p:cNvSpPr txBox="1"/>
          <p:nvPr/>
        </p:nvSpPr>
        <p:spPr>
          <a:xfrm>
            <a:off x="4590288" y="38587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line search; restart every 2n steps</a:t>
            </a:r>
            <a:endParaRPr lang="en-US" sz="1500" dirty="0"/>
          </a:p>
        </p:txBody>
      </p:sp>
      <p:sp>
        <p:nvSpPr>
          <p:cNvPr id="21" name="Method 2 label 3"/>
          <p:cNvSpPr txBox="1"/>
          <p:nvPr/>
        </p:nvSpPr>
        <p:spPr>
          <a:xfrm>
            <a:off x="4590288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Behaviour</a:t>
            </a:r>
            <a:endParaRPr lang="en-US" sz="1300" dirty="0"/>
          </a:p>
        </p:txBody>
      </p:sp>
      <p:sp>
        <p:nvSpPr>
          <p:cNvPr id="22" name="Method 2 text 3"/>
          <p:cNvSpPr txBox="1"/>
          <p:nvPr/>
        </p:nvSpPr>
        <p:spPr>
          <a:xfrm>
            <a:off x="4590288" y="50474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Remembers the last direction and avoids the zig-zag (q = 0.80).</a:t>
            </a:r>
            <a:endParaRPr lang="en-US" sz="1500" dirty="0"/>
          </a:p>
        </p:txBody>
      </p:sp>
      <p:sp>
        <p:nvSpPr>
          <p:cNvPr id="23" name="Method card 3"/>
          <p:cNvSpPr/>
          <p:nvPr/>
        </p:nvSpPr>
        <p:spPr>
          <a:xfrm>
            <a:off x="8083296" y="14173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4" name="Method marker 3"/>
          <p:cNvSpPr/>
          <p:nvPr/>
        </p:nvSpPr>
        <p:spPr>
          <a:xfrm>
            <a:off x="8357616" y="17190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Method colour 3"/>
          <p:cNvSpPr/>
          <p:nvPr/>
        </p:nvSpPr>
        <p:spPr>
          <a:xfrm>
            <a:off x="8357616" y="1719072"/>
            <a:ext cx="292608" cy="29260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6" name="Method title 3"/>
          <p:cNvSpPr txBox="1"/>
          <p:nvPr/>
        </p:nvSpPr>
        <p:spPr>
          <a:xfrm>
            <a:off x="8769096" y="1664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Levenberg-Marquardt</a:t>
            </a:r>
            <a:endParaRPr lang="en-US" sz="2000" dirty="0"/>
          </a:p>
        </p:txBody>
      </p:sp>
      <p:sp>
        <p:nvSpPr>
          <p:cNvPr id="27" name="Method 3 label 1"/>
          <p:cNvSpPr txBox="1"/>
          <p:nvPr/>
        </p:nvSpPr>
        <p:spPr>
          <a:xfrm>
            <a:off x="8357616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</a:t>
            </a:r>
            <a:endParaRPr lang="en-US" sz="1300" dirty="0"/>
          </a:p>
        </p:txBody>
      </p:sp>
      <p:sp>
        <p:nvSpPr>
          <p:cNvPr id="28" name="Method 3 text 1"/>
          <p:cNvSpPr txBox="1"/>
          <p:nvPr/>
        </p:nvSpPr>
        <p:spPr>
          <a:xfrm>
            <a:off x="8357616" y="26700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(J^T J + λ · D) δ = −J^T 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diag(J^T J)</a:t>
            </a:r>
            <a:endParaRPr lang="en-US" sz="1600" dirty="0"/>
          </a:p>
        </p:txBody>
      </p:sp>
      <p:sp>
        <p:nvSpPr>
          <p:cNvPr id="29" name="Method 3 label 2"/>
          <p:cNvSpPr txBox="1"/>
          <p:nvPr/>
        </p:nvSpPr>
        <p:spPr>
          <a:xfrm>
            <a:off x="8357616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length</a:t>
            </a:r>
            <a:endParaRPr lang="en-US" sz="1300" dirty="0"/>
          </a:p>
        </p:txBody>
      </p:sp>
      <p:sp>
        <p:nvSpPr>
          <p:cNvPr id="30" name="Method 3 text 2"/>
          <p:cNvSpPr txBox="1"/>
          <p:nvPr/>
        </p:nvSpPr>
        <p:spPr>
          <a:xfrm>
            <a:off x="8357616" y="385876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none: λ adapts to the gain ratio</a:t>
            </a:r>
            <a:endParaRPr lang="en-US" sz="1500" dirty="0"/>
          </a:p>
        </p:txBody>
      </p:sp>
      <p:sp>
        <p:nvSpPr>
          <p:cNvPr id="31" name="Method 3 label 3"/>
          <p:cNvSpPr txBox="1"/>
          <p:nvPr/>
        </p:nvSpPr>
        <p:spPr>
          <a:xfrm>
            <a:off x="8357616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Behaviour</a:t>
            </a:r>
            <a:endParaRPr lang="en-US" sz="1300" dirty="0"/>
          </a:p>
        </p:txBody>
      </p:sp>
      <p:sp>
        <p:nvSpPr>
          <p:cNvPr id="32" name="Method 3 text 3"/>
          <p:cNvSpPr txBox="1"/>
          <p:nvPr/>
        </p:nvSpPr>
        <p:spPr>
          <a:xfrm>
            <a:off x="8357616" y="50474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Gauss-Newton when λ is small, gradient descent when large (q = 0.98).</a:t>
            </a:r>
            <a:endParaRPr lang="en-US" sz="1500" dirty="0"/>
          </a:p>
        </p:txBody>
      </p:sp>
      <p:sp>
        <p:nvSpPr>
          <p:cNvPr id="33" name="Rate no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 = geometric-mean ratio of successive gradient norms near the end of the run (smaller is faster).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Untangling in four snapshots</a:t>
            </a:r>
            <a:endParaRPr lang="en-US" sz="3400" dirty="0"/>
          </a:p>
        </p:txBody>
      </p:sp>
      <p:pic>
        <p:nvPicPr>
          <p:cNvPr id="3" name="Image 0" descr="Four snapshots of conjugate gradient untangling a graph: 242 crossings, then 55, then 6, then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64240" cy="3199238"/>
          </a:xfrm>
          <a:prstGeom prst="rect">
            <a:avLst/>
          </a:prstGeom>
        </p:spPr>
      </p:pic>
      <p:sp>
        <p:nvSpPr>
          <p:cNvPr id="4" name="Snapshot caption"/>
          <p:cNvSpPr txBox="1"/>
          <p:nvPr/>
        </p:nvSpPr>
        <p:spPr>
          <a:xfrm>
            <a:off x="548640" y="521091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Conjugate gradient on a 30-node planar network. Orange edges cross another edge: 242 crossings at the start, 0 after 103 iterations (0.26 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Watch conjugate gradient untangle it</a:t>
            </a:r>
            <a:endParaRPr lang="en-US" sz="3400" dirty="0"/>
          </a:p>
        </p:txBody>
      </p:sp>
      <p:pic>
        <p:nvPicPr>
          <p:cNvPr id="3" name="Image 0" descr="Animation of the graph untangling as the energy decrea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98080" cy="3436620"/>
          </a:xfrm>
          <a:prstGeom prst="rect">
            <a:avLst/>
          </a:prstGeom>
        </p:spPr>
      </p:pic>
      <p:sp>
        <p:nvSpPr>
          <p:cNvPr id="4" name="GIF caption"/>
          <p:cNvSpPr txBox="1"/>
          <p:nvPr/>
        </p:nvSpPr>
        <p:spPr>
          <a:xfrm>
            <a:off x="548640" y="51739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Press F5 (slideshow) to play. Right: total energy E on log-log axes; the red dot is the current iteration.</a:t>
            </a:r>
            <a:endParaRPr lang="en-US" sz="1400" dirty="0"/>
          </a:p>
        </p:txBody>
      </p:sp>
      <p:sp>
        <p:nvSpPr>
          <p:cNvPr id="5" name="Stat card 1"/>
          <p:cNvSpPr/>
          <p:nvPr/>
        </p:nvSpPr>
        <p:spPr>
          <a:xfrm>
            <a:off x="8366760" y="1508760"/>
            <a:ext cx="32735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Stat value 1"/>
          <p:cNvSpPr txBox="1"/>
          <p:nvPr/>
        </p:nvSpPr>
        <p:spPr>
          <a:xfrm>
            <a:off x="8549640" y="16733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 to 0</a:t>
            </a:r>
            <a:endParaRPr lang="en-US" sz="3600" dirty="0"/>
          </a:p>
        </p:txBody>
      </p:sp>
      <p:sp>
        <p:nvSpPr>
          <p:cNvPr id="7" name="Stat label 1"/>
          <p:cNvSpPr txBox="1"/>
          <p:nvPr/>
        </p:nvSpPr>
        <p:spPr>
          <a:xfrm>
            <a:off x="85496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edge crossings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8366760" y="3017520"/>
            <a:ext cx="32735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Stat value 2"/>
          <p:cNvSpPr txBox="1"/>
          <p:nvPr/>
        </p:nvSpPr>
        <p:spPr>
          <a:xfrm>
            <a:off x="8549640" y="31821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600" dirty="0"/>
          </a:p>
        </p:txBody>
      </p:sp>
      <p:sp>
        <p:nvSpPr>
          <p:cNvPr id="10" name="Stat label 2"/>
          <p:cNvSpPr txBox="1"/>
          <p:nvPr/>
        </p:nvSpPr>
        <p:spPr>
          <a:xfrm>
            <a:off x="85496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iterations</a:t>
            </a:r>
            <a:endParaRPr lang="en-US" sz="1500" dirty="0"/>
          </a:p>
        </p:txBody>
      </p:sp>
      <p:sp>
        <p:nvSpPr>
          <p:cNvPr id="11" name="Stat card 3"/>
          <p:cNvSpPr/>
          <p:nvPr/>
        </p:nvSpPr>
        <p:spPr>
          <a:xfrm>
            <a:off x="8366760" y="4526280"/>
            <a:ext cx="32735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Stat value 3"/>
          <p:cNvSpPr txBox="1"/>
          <p:nvPr/>
        </p:nvSpPr>
        <p:spPr>
          <a:xfrm>
            <a:off x="8549640" y="4690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 s</a:t>
            </a:r>
            <a:endParaRPr lang="en-US" sz="3600" dirty="0"/>
          </a:p>
        </p:txBody>
      </p:sp>
      <p:sp>
        <p:nvSpPr>
          <p:cNvPr id="13" name="Stat label 3"/>
          <p:cNvSpPr txBox="1"/>
          <p:nvPr/>
        </p:nvSpPr>
        <p:spPr>
          <a:xfrm>
            <a:off x="854964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wall-clock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Same minimum, very different cost</a:t>
            </a:r>
            <a:endParaRPr lang="en-US" sz="3400" dirty="0"/>
          </a:p>
        </p:txBody>
      </p:sp>
      <p:pic>
        <p:nvPicPr>
          <p:cNvPr id="3" name="Image 0" descr="Energy and gradient norm versus iterations and versus time for the three metho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138998"/>
          </a:xfrm>
          <a:prstGeom prst="rect">
            <a:avLst/>
          </a:prstGeom>
        </p:spPr>
      </p:pic>
      <p:sp>
        <p:nvSpPr>
          <p:cNvPr id="4" name="Run tile 1"/>
          <p:cNvSpPr/>
          <p:nvPr/>
        </p:nvSpPr>
        <p:spPr>
          <a:xfrm>
            <a:off x="548640" y="4693478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Run tile colour 1"/>
          <p:cNvSpPr/>
          <p:nvPr/>
        </p:nvSpPr>
        <p:spPr>
          <a:xfrm>
            <a:off x="777240" y="4876358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6" name="Run tile name 1"/>
          <p:cNvSpPr txBox="1"/>
          <p:nvPr/>
        </p:nvSpPr>
        <p:spPr>
          <a:xfrm>
            <a:off x="1143000" y="483063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Steepest descent</a:t>
            </a:r>
            <a:endParaRPr lang="en-US" sz="1500" dirty="0"/>
          </a:p>
        </p:txBody>
      </p:sp>
      <p:sp>
        <p:nvSpPr>
          <p:cNvPr id="7" name="Run tile value 1"/>
          <p:cNvSpPr txBox="1"/>
          <p:nvPr/>
        </p:nvSpPr>
        <p:spPr>
          <a:xfrm>
            <a:off x="777240" y="519639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1,074 iterations</a:t>
            </a:r>
            <a:endParaRPr lang="en-US" sz="2200" dirty="0"/>
          </a:p>
        </p:txBody>
      </p:sp>
      <p:sp>
        <p:nvSpPr>
          <p:cNvPr id="8" name="Run tile detail 1"/>
          <p:cNvSpPr txBox="1"/>
          <p:nvPr/>
        </p:nvSpPr>
        <p:spPr>
          <a:xfrm>
            <a:off x="777240" y="55621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2.54 s, E = 112.79, 0 crossings</a:t>
            </a:r>
            <a:endParaRPr lang="en-US" sz="1300" dirty="0"/>
          </a:p>
        </p:txBody>
      </p:sp>
      <p:sp>
        <p:nvSpPr>
          <p:cNvPr id="9" name="Run tile 2"/>
          <p:cNvSpPr/>
          <p:nvPr/>
        </p:nvSpPr>
        <p:spPr>
          <a:xfrm>
            <a:off x="4315968" y="4693478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Run tile colour 2"/>
          <p:cNvSpPr/>
          <p:nvPr/>
        </p:nvSpPr>
        <p:spPr>
          <a:xfrm>
            <a:off x="4544568" y="4876358"/>
            <a:ext cx="237744" cy="23774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1" name="Run tile name 2"/>
          <p:cNvSpPr txBox="1"/>
          <p:nvPr/>
        </p:nvSpPr>
        <p:spPr>
          <a:xfrm>
            <a:off x="4910328" y="483063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Conjugate gradient (FR)</a:t>
            </a:r>
            <a:endParaRPr lang="en-US" sz="1500" dirty="0"/>
          </a:p>
        </p:txBody>
      </p:sp>
      <p:sp>
        <p:nvSpPr>
          <p:cNvPr id="12" name="Run tile value 2"/>
          <p:cNvSpPr txBox="1"/>
          <p:nvPr/>
        </p:nvSpPr>
        <p:spPr>
          <a:xfrm>
            <a:off x="4544568" y="519639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 iterations</a:t>
            </a:r>
            <a:endParaRPr lang="en-US" sz="2200" dirty="0"/>
          </a:p>
        </p:txBody>
      </p:sp>
      <p:sp>
        <p:nvSpPr>
          <p:cNvPr id="13" name="Run tile detail 2"/>
          <p:cNvSpPr txBox="1"/>
          <p:nvPr/>
        </p:nvSpPr>
        <p:spPr>
          <a:xfrm>
            <a:off x="4544568" y="55621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0.26 s, E = 112.79, 0 crossings</a:t>
            </a:r>
            <a:endParaRPr lang="en-US" sz="1300" dirty="0"/>
          </a:p>
        </p:txBody>
      </p:sp>
      <p:sp>
        <p:nvSpPr>
          <p:cNvPr id="14" name="Run tile 3"/>
          <p:cNvSpPr/>
          <p:nvPr/>
        </p:nvSpPr>
        <p:spPr>
          <a:xfrm>
            <a:off x="8083296" y="4693478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Run tile colour 3"/>
          <p:cNvSpPr/>
          <p:nvPr/>
        </p:nvSpPr>
        <p:spPr>
          <a:xfrm>
            <a:off x="8311896" y="487635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6" name="Run tile name 3"/>
          <p:cNvSpPr txBox="1"/>
          <p:nvPr/>
        </p:nvSpPr>
        <p:spPr>
          <a:xfrm>
            <a:off x="8677656" y="483063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Levenberg-Marquardt</a:t>
            </a:r>
            <a:endParaRPr lang="en-US" sz="1500" dirty="0"/>
          </a:p>
        </p:txBody>
      </p:sp>
      <p:sp>
        <p:nvSpPr>
          <p:cNvPr id="17" name="Run tile value 3"/>
          <p:cNvSpPr txBox="1"/>
          <p:nvPr/>
        </p:nvSpPr>
        <p:spPr>
          <a:xfrm>
            <a:off x="8311896" y="519639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 iterations</a:t>
            </a:r>
            <a:endParaRPr lang="en-US" sz="2200" dirty="0"/>
          </a:p>
        </p:txBody>
      </p:sp>
      <p:sp>
        <p:nvSpPr>
          <p:cNvPr id="18" name="Run tile detail 3"/>
          <p:cNvSpPr txBox="1"/>
          <p:nvPr/>
        </p:nvSpPr>
        <p:spPr>
          <a:xfrm>
            <a:off x="8311896" y="55621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0.47 s, E = 112.79, 0 crossings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240 runs: CG needs about 9x fewer iterations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53912" y="137160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peedup banner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6" name="Speedup text"/>
          <p:cNvSpPr txBox="1"/>
          <p:nvPr/>
        </p:nvSpPr>
        <p:spPr>
          <a:xfrm>
            <a:off x="77724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Steepest descent / CG, median of 80 paired starts: 9.1x iterations, 9.3x time.  LM: 250 iterations (2.4x CG), similar time to CG.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Speed differs, layout quality does not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title 1"/>
          <p:cNvSpPr txBox="1"/>
          <p:nvPr/>
        </p:nvSpPr>
        <p:spPr>
          <a:xfrm>
            <a:off x="68122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Same quality</a:t>
            </a:r>
            <a:endParaRPr lang="en-US" sz="2000" dirty="0"/>
          </a:p>
        </p:txBody>
      </p:sp>
      <p:sp>
        <p:nvSpPr>
          <p:cNvPr id="5" name="Insight text 1"/>
          <p:cNvSpPr txBox="1"/>
          <p:nvPr/>
        </p:nvSpPr>
        <p:spPr>
          <a:xfrm>
            <a:off x="6812280" y="18288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Crossing-free layouts on planar graphs: SD 87%, CG 90%, LM 83%. With 20 starts per graph these gaps are within run-to-run noise.</a:t>
            </a:r>
            <a:endParaRPr lang="en-US" sz="1500" dirty="0"/>
          </a:p>
        </p:txBody>
      </p:sp>
      <p:sp>
        <p:nvSpPr>
          <p:cNvPr id="6" name="Insight title 2"/>
          <p:cNvSpPr txBox="1"/>
          <p:nvPr/>
        </p:nvSpPr>
        <p:spPr>
          <a:xfrm>
            <a:off x="68122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Usually the same minimum</a:t>
            </a:r>
            <a:endParaRPr lang="en-US" sz="2000" dirty="0"/>
          </a:p>
        </p:txBody>
      </p:sp>
      <p:sp>
        <p:nvSpPr>
          <p:cNvPr id="7" name="Insight text 2"/>
          <p:cNvSpPr txBox="1"/>
          <p:nvPr/>
        </p:nvSpPr>
        <p:spPr>
          <a:xfrm>
            <a:off x="6812280" y="33832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Steepest descent and CG ended in the same local minimum in 91% of the 80 paired runs.</a:t>
            </a:r>
            <a:endParaRPr lang="en-US" sz="1500" dirty="0"/>
          </a:p>
        </p:txBody>
      </p:sp>
      <p:sp>
        <p:nvSpPr>
          <p:cNvPr id="8" name="Insight title 3"/>
          <p:cNvSpPr txBox="1"/>
          <p:nvPr/>
        </p:nvSpPr>
        <p:spPr>
          <a:xfrm>
            <a:off x="681228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non-convex energy</a:t>
            </a:r>
            <a:endParaRPr lang="en-US" sz="2000" dirty="0"/>
          </a:p>
        </p:txBody>
      </p:sp>
      <p:sp>
        <p:nvSpPr>
          <p:cNvPr id="9" name="Insight text 3"/>
          <p:cNvSpPr txBox="1"/>
          <p:nvPr/>
        </p:nvSpPr>
        <p:spPr>
          <a:xfrm>
            <a:off x="681228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minimum you reach depends on the start, not the method: trees fold in 20-30% of starts. Remedy: several random starts, keep the lowest energy.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went wrong first, and what we learned</a:t>
            </a:r>
            <a:endParaRPr lang="en-US" sz="3400" dirty="0"/>
          </a:p>
        </p:txBody>
      </p:sp>
      <p:sp>
        <p:nvSpPr>
          <p:cNvPr id="3" name="Lesson card 1"/>
          <p:cNvSpPr/>
          <p:nvPr/>
        </p:nvSpPr>
        <p:spPr>
          <a:xfrm>
            <a:off x="548640" y="141732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Lesson number 1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Lesson number 1 label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Lesson title 1"/>
          <p:cNvSpPr txBox="1"/>
          <p:nvPr/>
        </p:nvSpPr>
        <p:spPr>
          <a:xfrm>
            <a:off x="822960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Fix the model before the optimizer</a:t>
            </a:r>
            <a:endParaRPr lang="en-US" sz="1900" dirty="0"/>
          </a:p>
        </p:txBody>
      </p:sp>
      <p:sp>
        <p:nvSpPr>
          <p:cNvPr id="7" name="Lesson text 1"/>
          <p:cNvSpPr txBox="1"/>
          <p:nvPr/>
        </p:nvSpPr>
        <p:spPr>
          <a:xfrm>
            <a:off x="822960" y="32004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first benchmark gave 0% crossing-free layouts on a dense Delaunay mesh. Even starting from the true planar drawing, the optimizer moved to a folded layout with lower energy. So the energy was wrong, not the optimizer. We switched to long-range log repulsion and a sparse planar network, tuning on separate seeds.</a:t>
            </a:r>
            <a:endParaRPr lang="en-US" sz="1500" dirty="0"/>
          </a:p>
        </p:txBody>
      </p:sp>
      <p:sp>
        <p:nvSpPr>
          <p:cNvPr id="8" name="Lesson card 2"/>
          <p:cNvSpPr/>
          <p:nvPr/>
        </p:nvSpPr>
        <p:spPr>
          <a:xfrm>
            <a:off x="4315968" y="141732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Lesson number 2"/>
          <p:cNvSpPr/>
          <p:nvPr/>
        </p:nvSpPr>
        <p:spPr>
          <a:xfrm>
            <a:off x="4590288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Lesson number 2 label"/>
          <p:cNvSpPr txBox="1"/>
          <p:nvPr/>
        </p:nvSpPr>
        <p:spPr>
          <a:xfrm>
            <a:off x="45902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Lesson title 2"/>
          <p:cNvSpPr txBox="1"/>
          <p:nvPr/>
        </p:nvSpPr>
        <p:spPr>
          <a:xfrm>
            <a:off x="4590288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LM is not magic</a:t>
            </a:r>
            <a:endParaRPr lang="en-US" sz="1900" dirty="0"/>
          </a:p>
        </p:txBody>
      </p:sp>
      <p:sp>
        <p:nvSpPr>
          <p:cNvPr id="12" name="Lesson text 2"/>
          <p:cNvSpPr txBox="1"/>
          <p:nvPr/>
        </p:nvSpPr>
        <p:spPr>
          <a:xfrm>
            <a:off x="4590288" y="32004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Its J^T J step drops second-order residual terms, which is a likely reason it was slower here: spring and repulsion forces balance at a good layout instead of vanishing. Measured: LM converged linearly (q = 0.98) and needed 2.4x the iterations of CG (median 250 vs 106).</a:t>
            </a:r>
            <a:endParaRPr lang="en-US" sz="1500" dirty="0"/>
          </a:p>
        </p:txBody>
      </p:sp>
      <p:sp>
        <p:nvSpPr>
          <p:cNvPr id="13" name="Lesson card 3"/>
          <p:cNvSpPr/>
          <p:nvPr/>
        </p:nvSpPr>
        <p:spPr>
          <a:xfrm>
            <a:off x="8083296" y="141732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Lesson number 3"/>
          <p:cNvSpPr/>
          <p:nvPr/>
        </p:nvSpPr>
        <p:spPr>
          <a:xfrm>
            <a:off x="835761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Lesson number 3 label"/>
          <p:cNvSpPr txBox="1"/>
          <p:nvPr/>
        </p:nvSpPr>
        <p:spPr>
          <a:xfrm>
            <a:off x="83576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Lesson title 3"/>
          <p:cNvSpPr txBox="1"/>
          <p:nvPr/>
        </p:nvSpPr>
        <p:spPr>
          <a:xfrm>
            <a:off x="8357616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Compare fairly</a:t>
            </a:r>
            <a:endParaRPr lang="en-US" sz="1900" dirty="0"/>
          </a:p>
        </p:txBody>
      </p:sp>
      <p:sp>
        <p:nvSpPr>
          <p:cNvPr id="17" name="Lesson text 3"/>
          <p:cNvSpPr txBox="1"/>
          <p:nvPr/>
        </p:nvSpPr>
        <p:spPr>
          <a:xfrm>
            <a:off x="8357616" y="32004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methods get the same start and the same 3,000-iteration budget. LM was first capped at 300 iterations and looked like it failed; it was only slow. We report iterations and wall-clock time, because one CG iteration costs a line search of about 20 energy evaluations and one LM iteration costs a Jacobian.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and reproducibility</a:t>
            </a:r>
            <a:endParaRPr lang="en-US" sz="3400" dirty="0"/>
          </a:p>
        </p:txBody>
      </p:sp>
      <p:sp>
        <p:nvSpPr>
          <p:cNvPr id="3" name="Repo card"/>
          <p:cNvSpPr/>
          <p:nvPr/>
        </p:nvSpPr>
        <p:spPr>
          <a:xfrm>
            <a:off x="548640" y="1417320"/>
            <a:ext cx="576072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Repo tree"/>
          <p:cNvSpPr txBox="1"/>
          <p:nvPr/>
        </p:nvSpPr>
        <p:spPr>
          <a:xfrm>
            <a:off x="822960" y="164592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forcelayout/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graphs.py      test graphs, random starts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energy.py      E, gradient, residuals, J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linesearch.py  bounding + golden section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optimizers.py  SD, FR-CG, LM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metrics.py     crossings, edge CV, rate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viz.py         snapshots, GIF, plots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run_demo.py    figures + animation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benchmark.py   multi-start comparison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make_deck.js   this presentation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automated tests</a:t>
            </a:r>
            <a:endParaRPr lang="en-US" sz="1500" dirty="0"/>
          </a:p>
        </p:txBody>
      </p:sp>
      <p:sp>
        <p:nvSpPr>
          <p:cNvPr id="5" name="Impl title 1"/>
          <p:cNvSpPr txBox="1"/>
          <p:nvPr/>
        </p:nvSpPr>
        <p:spPr>
          <a:xfrm>
            <a:off x="6720840" y="1508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Analytic gradient and Jacobian</a:t>
            </a:r>
            <a:endParaRPr lang="en-US" sz="2000" dirty="0"/>
          </a:p>
        </p:txBody>
      </p:sp>
      <p:sp>
        <p:nvSpPr>
          <p:cNvPr id="6" name="Impl text 1"/>
          <p:cNvSpPr txBox="1"/>
          <p:nvPr/>
        </p:nvSpPr>
        <p:spPr>
          <a:xfrm>
            <a:off x="6720840" y="1965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Verified against finite differences in the tests.</a:t>
            </a:r>
            <a:endParaRPr lang="en-US" sz="1500" dirty="0"/>
          </a:p>
        </p:txBody>
      </p:sp>
      <p:sp>
        <p:nvSpPr>
          <p:cNvPr id="7" name="Impl title 2"/>
          <p:cNvSpPr txBox="1"/>
          <p:nvPr/>
        </p:nvSpPr>
        <p:spPr>
          <a:xfrm>
            <a:off x="6720840" y="2788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Optimizers written from scratch</a:t>
            </a:r>
            <a:endParaRPr lang="en-US" sz="2000" dirty="0"/>
          </a:p>
        </p:txBody>
      </p:sp>
      <p:sp>
        <p:nvSpPr>
          <p:cNvPr id="8" name="Impl text 2"/>
          <p:cNvSpPr txBox="1"/>
          <p:nvPr/>
        </p:nvSpPr>
        <p:spPr>
          <a:xfrm>
            <a:off x="6720840" y="32461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NumPy only; no scipy.optimize.</a:t>
            </a:r>
            <a:endParaRPr lang="en-US" sz="1500" dirty="0"/>
          </a:p>
        </p:txBody>
      </p:sp>
      <p:sp>
        <p:nvSpPr>
          <p:cNvPr id="9" name="Impl title 3"/>
          <p:cNvSpPr txBox="1"/>
          <p:nvPr/>
        </p:nvSpPr>
        <p:spPr>
          <a:xfrm>
            <a:off x="6720840" y="4069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Reproducible</a:t>
            </a:r>
            <a:endParaRPr lang="en-US" sz="2000" dirty="0"/>
          </a:p>
        </p:txBody>
      </p:sp>
      <p:sp>
        <p:nvSpPr>
          <p:cNvPr id="10" name="Impl text 3"/>
          <p:cNvSpPr txBox="1"/>
          <p:nvPr/>
        </p:nvSpPr>
        <p:spPr>
          <a:xfrm>
            <a:off x="6720840" y="45262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seeds. run_demo.py and benchmark.py regenerate every figure and table in this deck.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Takeaways</a:t>
            </a:r>
            <a:endParaRPr lang="en-US" sz="3400" dirty="0"/>
          </a:p>
        </p:txBody>
      </p:sp>
      <p:sp>
        <p:nvSpPr>
          <p:cNvPr id="3" name="Takeaway number 1"/>
          <p:cNvSpPr txBox="1"/>
          <p:nvPr/>
        </p:nvSpPr>
        <p:spPr>
          <a:xfrm>
            <a:off x="548640" y="14630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akeaway title 1"/>
          <p:cNvSpPr txBox="1"/>
          <p:nvPr/>
        </p:nvSpPr>
        <p:spPr>
          <a:xfrm>
            <a:off x="1554480" y="1463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Layout is optimization</a:t>
            </a:r>
            <a:endParaRPr lang="en-US" sz="2400" dirty="0"/>
          </a:p>
        </p:txBody>
      </p:sp>
      <p:sp>
        <p:nvSpPr>
          <p:cNvPr id="5" name="Takeaway text 1"/>
          <p:cNvSpPr txBox="1"/>
          <p:nvPr/>
        </p:nvSpPr>
        <p:spPr>
          <a:xfrm>
            <a:off x="1554480" y="1965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Minimize a spring plus repulsion energy over 2n coordinates, using the Module 1 and 2 toolbox.</a:t>
            </a:r>
            <a:endParaRPr lang="en-US" sz="1700" dirty="0"/>
          </a:p>
        </p:txBody>
      </p:sp>
      <p:sp>
        <p:nvSpPr>
          <p:cNvPr id="6" name="Takeaway number 2"/>
          <p:cNvSpPr txBox="1"/>
          <p:nvPr/>
        </p:nvSpPr>
        <p:spPr>
          <a:xfrm>
            <a:off x="548640" y="28346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akeaway title 2"/>
          <p:cNvSpPr txBox="1"/>
          <p:nvPr/>
        </p:nvSpPr>
        <p:spPr>
          <a:xfrm>
            <a:off x="1554480" y="2834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CG is the sweet spot</a:t>
            </a:r>
            <a:endParaRPr lang="en-US" sz="2400" dirty="0"/>
          </a:p>
        </p:txBody>
      </p:sp>
      <p:sp>
        <p:nvSpPr>
          <p:cNvPr id="8" name="Takeaway text 2"/>
          <p:cNvSpPr txBox="1"/>
          <p:nvPr/>
        </p:nvSpPr>
        <p:spPr>
          <a:xfrm>
            <a:off x="1554480" y="3337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About 9x faster than steepest descent, with no Jacobian or matrix solve.</a:t>
            </a:r>
            <a:endParaRPr lang="en-US" sz="1700" dirty="0"/>
          </a:p>
        </p:txBody>
      </p:sp>
      <p:sp>
        <p:nvSpPr>
          <p:cNvPr id="9" name="Takeaway number 3"/>
          <p:cNvSpPr txBox="1"/>
          <p:nvPr/>
        </p:nvSpPr>
        <p:spPr>
          <a:xfrm>
            <a:off x="548640" y="4206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akeaway title 3"/>
          <p:cNvSpPr txBox="1"/>
          <p:nvPr/>
        </p:nvSpPr>
        <p:spPr>
          <a:xfrm>
            <a:off x="155448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landscape is non-convex</a:t>
            </a:r>
            <a:endParaRPr lang="en-US" sz="2400" dirty="0"/>
          </a:p>
        </p:txBody>
      </p:sp>
      <p:sp>
        <p:nvSpPr>
          <p:cNvPr id="11" name="Takeaway text 3"/>
          <p:cNvSpPr txBox="1"/>
          <p:nvPr/>
        </p:nvSpPr>
        <p:spPr>
          <a:xfrm>
            <a:off x="1554480" y="47091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All methods reach the same quality; use several random starts and keep the lowest energy.</a:t>
            </a:r>
            <a:endParaRPr lang="en-US" sz="1700" dirty="0"/>
          </a:p>
        </p:txBody>
      </p:sp>
      <p:sp>
        <p:nvSpPr>
          <p:cNvPr id="12" name="Next steps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Next: Barnes-Hut approximation for O(n log n) repulsion, momentum methods, and constraint-based layouts.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hysics">
  <a:themeElements>
    <a:clrScheme name="Graph Physics">
      <a:dk1>
        <a:srgbClr val="1F2937"/>
      </a:dk1>
      <a:lt1>
        <a:srgbClr val="FFFFFF"/>
      </a:lt1>
      <a:dk2>
        <a:srgbClr val="14213D"/>
      </a:dk2>
      <a:lt2>
        <a:srgbClr val="F1F4F9"/>
      </a:lt2>
      <a:accent1>
        <a:srgbClr val="0072B2"/>
      </a:accent1>
      <a:accent2>
        <a:srgbClr val="D55E00"/>
      </a:accent2>
      <a:accent3>
        <a:srgbClr val="009E73"/>
      </a:accent3>
      <a:accent4>
        <a:srgbClr val="E69F00"/>
      </a:accent4>
      <a:accent5>
        <a:srgbClr val="2B3A55"/>
      </a:accent5>
      <a:accent6>
        <a:srgbClr val="6B7280"/>
      </a:accent6>
      <a:hlink>
        <a:srgbClr val="0072B2"/>
      </a:hlink>
      <a:folHlink>
        <a:srgbClr val="6B7280"/>
      </a:folHlink>
    </a:clrScheme>
    <a:fontScheme name="Graph Phys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Untangling Graphs with Optimization</dc:title>
  <dc:subject>PptxGenJS Presentation</dc:subject>
  <dc:creator>PptxGenJS</dc:creator>
  <cp:lastModifiedBy>PptxGenJS</cp:lastModifiedBy>
  <cp:revision>1</cp:revision>
  <dcterms:created xsi:type="dcterms:W3CDTF">2026-10-21T10:12:05Z</dcterms:created>
  <dcterms:modified xsi:type="dcterms:W3CDTF">2026-10-21T10:12:05Z</dcterms:modified>
</cp:coreProperties>
</file>